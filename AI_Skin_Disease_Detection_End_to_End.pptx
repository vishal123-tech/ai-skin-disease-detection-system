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9099386724d49a4" /><Relationship Type="http://schemas.openxmlformats.org/officeDocument/2006/relationships/extended-properties" Target="/docProps/app.xml" Id="R936fd7c92b4148c6" /><Relationship Type="http://schemas.openxmlformats.org/officeDocument/2006/relationships/officeDocument" Target="/ppt/presentation.xml" Id="R37ca5352300040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df575c2a0a425b"/>
  </p:sldMasterIdLst>
  <p:notesMasterIdLst>
    <p:notesMasterId xmlns:r="http://schemas.openxmlformats.org/officeDocument/2006/relationships" r:id="R446531f4d05f4ba6"/>
  </p:notesMasterIdLst>
  <p:sldIdLst>
    <p:sldId xmlns:r="http://schemas.openxmlformats.org/officeDocument/2006/relationships" id="256" r:id="Rb503c7b992144155"/>
    <p:sldId xmlns:r="http://schemas.openxmlformats.org/officeDocument/2006/relationships" id="257" r:id="R21c8d6bf62c048aa"/>
    <p:sldId xmlns:r="http://schemas.openxmlformats.org/officeDocument/2006/relationships" id="258" r:id="R4a1c4418e6ae4687"/>
    <p:sldId xmlns:r="http://schemas.openxmlformats.org/officeDocument/2006/relationships" id="259" r:id="Rb44f08b4cabd4352"/>
    <p:sldId xmlns:r="http://schemas.openxmlformats.org/officeDocument/2006/relationships" id="260" r:id="Rdea99699dad6420c"/>
    <p:sldId xmlns:r="http://schemas.openxmlformats.org/officeDocument/2006/relationships" id="261" r:id="Rc82ec589de394ad0"/>
    <p:sldId xmlns:r="http://schemas.openxmlformats.org/officeDocument/2006/relationships" id="262" r:id="R0d504c12b56d40d6"/>
    <p:sldId xmlns:r="http://schemas.openxmlformats.org/officeDocument/2006/relationships" id="263" r:id="Rb4b4f107730444b3"/>
    <p:sldId xmlns:r="http://schemas.openxmlformats.org/officeDocument/2006/relationships" id="264" r:id="Rca0227328bec4b94"/>
    <p:sldId xmlns:r="http://schemas.openxmlformats.org/officeDocument/2006/relationships" id="265" r:id="R6254dafc7be84782"/>
    <p:sldId xmlns:r="http://schemas.openxmlformats.org/officeDocument/2006/relationships" id="266" r:id="Ra68f3966fc984f81"/>
    <p:sldId xmlns:r="http://schemas.openxmlformats.org/officeDocument/2006/relationships" id="267" r:id="R79135f451cbd4032"/>
    <p:sldId xmlns:r="http://schemas.openxmlformats.org/officeDocument/2006/relationships" id="268" r:id="Rf106433483574a12"/>
    <p:sldId xmlns:r="http://schemas.openxmlformats.org/officeDocument/2006/relationships" id="269" r:id="R440b01ace4c2440c"/>
    <p:sldId xmlns:r="http://schemas.openxmlformats.org/officeDocument/2006/relationships" id="270" r:id="Ra177cf416dd54713"/>
    <p:sldId xmlns:r="http://schemas.openxmlformats.org/officeDocument/2006/relationships" id="271" r:id="R2b161c3aa850495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912a0500edc4490" /><Relationship Type="http://schemas.openxmlformats.org/officeDocument/2006/relationships/slideMaster" Target="/ppt/slideMasters/slideMaster1.xml" Id="R33df575c2a0a425b" /><Relationship Type="http://schemas.openxmlformats.org/officeDocument/2006/relationships/notesMaster" Target="/ppt/notesMasters/notesMaster1.xml" Id="R446531f4d05f4ba6" /><Relationship Type="http://schemas.openxmlformats.org/officeDocument/2006/relationships/presProps" Target="/ppt/presProps.xml" Id="R3fb9fe4353d34165" /><Relationship Type="http://schemas.openxmlformats.org/officeDocument/2006/relationships/tableStyles" Target="/ppt/tableStyles.xml" Id="R48c8cf52db584a8e" /><Relationship Type="http://schemas.openxmlformats.org/officeDocument/2006/relationships/slide" Target="/ppt/slides/slide1.xml" Id="Rb503c7b992144155" /><Relationship Type="http://schemas.openxmlformats.org/officeDocument/2006/relationships/slide" Target="/ppt/slides/slide2.xml" Id="R21c8d6bf62c048aa" /><Relationship Type="http://schemas.openxmlformats.org/officeDocument/2006/relationships/slide" Target="/ppt/slides/slide3.xml" Id="R4a1c4418e6ae4687" /><Relationship Type="http://schemas.openxmlformats.org/officeDocument/2006/relationships/slide" Target="/ppt/slides/slide4.xml" Id="Rb44f08b4cabd4352" /><Relationship Type="http://schemas.openxmlformats.org/officeDocument/2006/relationships/slide" Target="/ppt/slides/slide5.xml" Id="Rdea99699dad6420c" /><Relationship Type="http://schemas.openxmlformats.org/officeDocument/2006/relationships/slide" Target="/ppt/slides/slide6.xml" Id="Rc82ec589de394ad0" /><Relationship Type="http://schemas.openxmlformats.org/officeDocument/2006/relationships/slide" Target="/ppt/slides/slide7.xml" Id="R0d504c12b56d40d6" /><Relationship Type="http://schemas.openxmlformats.org/officeDocument/2006/relationships/slide" Target="/ppt/slides/slide8.xml" Id="Rb4b4f107730444b3" /><Relationship Type="http://schemas.openxmlformats.org/officeDocument/2006/relationships/slide" Target="/ppt/slides/slide9.xml" Id="Rca0227328bec4b94" /><Relationship Type="http://schemas.openxmlformats.org/officeDocument/2006/relationships/slide" Target="/ppt/slides/slide10.xml" Id="R6254dafc7be84782" /><Relationship Type="http://schemas.openxmlformats.org/officeDocument/2006/relationships/slide" Target="/ppt/slides/slide11.xml" Id="Ra68f3966fc984f81" /><Relationship Type="http://schemas.openxmlformats.org/officeDocument/2006/relationships/slide" Target="/ppt/slides/slide12.xml" Id="R79135f451cbd4032" /><Relationship Type="http://schemas.openxmlformats.org/officeDocument/2006/relationships/slide" Target="/ppt/slides/slide13.xml" Id="Rf106433483574a12" /><Relationship Type="http://schemas.openxmlformats.org/officeDocument/2006/relationships/slide" Target="/ppt/slides/slide14.xml" Id="R440b01ace4c2440c" /><Relationship Type="http://schemas.openxmlformats.org/officeDocument/2006/relationships/slide" Target="/ppt/slides/slide15.xml" Id="Ra177cf416dd54713" /><Relationship Type="http://schemas.openxmlformats.org/officeDocument/2006/relationships/slide" Target="/ppt/slides/slide16.xml" Id="R2b161c3aa850495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7126843315460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349a9c89a2745a7" /><Relationship Type="http://schemas.openxmlformats.org/officeDocument/2006/relationships/notesMaster" Target="/ppt/notesMasters/notesMaster1.xml" Id="R2c81e539688e4fa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f9e42989a84552" /><Relationship Type="http://schemas.openxmlformats.org/officeDocument/2006/relationships/notesMaster" Target="/ppt/notesMasters/notesMaster1.xml" Id="Rab62a18e260840d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376a7497f424281" /><Relationship Type="http://schemas.openxmlformats.org/officeDocument/2006/relationships/notesMaster" Target="/ppt/notesMasters/notesMaster1.xml" Id="Rdc3e6b5141bc47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0affb8aea74c30" /><Relationship Type="http://schemas.openxmlformats.org/officeDocument/2006/relationships/notesMaster" Target="/ppt/notesMasters/notesMaster1.xml" Id="Rd43f87e3dfd6464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d3f87ea38046a0" /><Relationship Type="http://schemas.openxmlformats.org/officeDocument/2006/relationships/notesMaster" Target="/ppt/notesMasters/notesMaster1.xml" Id="R1c37cfe67d0943c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c0fa47f26e54a27" /><Relationship Type="http://schemas.openxmlformats.org/officeDocument/2006/relationships/notesMaster" Target="/ppt/notesMasters/notesMaster1.xml" Id="R576fabbaea6d4d7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64859b6034b4e3b" /><Relationship Type="http://schemas.openxmlformats.org/officeDocument/2006/relationships/notesMaster" Target="/ppt/notesMasters/notesMaster1.xml" Id="Ra4c20261e2c54b5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962b75558ca4574" /><Relationship Type="http://schemas.openxmlformats.org/officeDocument/2006/relationships/notesMaster" Target="/ppt/notesMasters/notesMaster1.xml" Id="Rdc63121db75e4d0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f489ec3197641ca" /><Relationship Type="http://schemas.openxmlformats.org/officeDocument/2006/relationships/notesMaster" Target="/ppt/notesMasters/notesMaster1.xml" Id="Rb6d1fa607f59423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3d624f8028b4f0f" /><Relationship Type="http://schemas.openxmlformats.org/officeDocument/2006/relationships/notesMaster" Target="/ppt/notesMasters/notesMaster1.xml" Id="Rc3fd8e24ff7b4d7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ace6cec4b084842" /><Relationship Type="http://schemas.openxmlformats.org/officeDocument/2006/relationships/notesMaster" Target="/ppt/notesMasters/notesMaster1.xml" Id="Ra2ebd8ee78d745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76f44d908e345a4" /><Relationship Type="http://schemas.openxmlformats.org/officeDocument/2006/relationships/notesMaster" Target="/ppt/notesMasters/notesMaster1.xml" Id="Rf29c7fcf37af45d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6fc4b83dc5340c5" /><Relationship Type="http://schemas.openxmlformats.org/officeDocument/2006/relationships/notesMaster" Target="/ppt/notesMasters/notesMaster1.xml" Id="R75a87f6047f34bf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b2824ec7a214836" /><Relationship Type="http://schemas.openxmlformats.org/officeDocument/2006/relationships/notesMaster" Target="/ppt/notesMasters/notesMaster1.xml" Id="Rc573d4d003b641c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c90eea940b4645" /><Relationship Type="http://schemas.openxmlformats.org/officeDocument/2006/relationships/notesMaster" Target="/ppt/notesMasters/notesMaster1.xml" Id="Rb0cc92ccb9f3454b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d898632cf80476c" /><Relationship Type="http://schemas.openxmlformats.org/officeDocument/2006/relationships/notesMaster" Target="/ppt/notesMasters/notesMaster1.xml" Id="R17f8aa1a7b5c432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Source: User-provided contents reference image.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behavior observed during local testing and user-provided screenshots.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ISIC datasets: https://challenge.isic-archive.com/data/</a:t>
            </a:r>
          </a:p>
          <a:p xmlns:a="http://schemas.openxmlformats.org/drawingml/2006/main">
            <a:r>
              <a:t>TensorFlow Lite: https://www.tensorflow.org/lite</a:t>
            </a:r>
          </a:p>
          <a:p xmlns:a="http://schemas.openxmlformats.org/drawingml/2006/main">
            <a:r>
              <a:t>MobileNetV2: https://arxiv.org/abs/1801.04381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Flask: https://flask.palletsprojects.com/</a:t>
            </a:r>
          </a:p>
          <a:p xmlns:a="http://schemas.openxmlformats.org/drawingml/2006/main">
            <a:r>
              <a:t>TensorFlow Lite: https://www.tensorflow.org/lite</a:t>
            </a:r>
          </a:p>
          <a:p xmlns:a="http://schemas.openxmlformats.org/drawingml/2006/main">
            <a:r>
              <a:t>ReportLab: https://www.reportlab.com/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Raspberry Pi Camera software: https://www.raspberrypi.com/documentation/computers/camera_software.html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Softmax and entropy are standard statistical tools; implementation is in the project predictor.py.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Expected results are project acceptance goals, not measured claims.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Presenter note: Use this slide to explain the project sequence.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Project source: https://github.com/Vishal123-tech/AI-Skin-Disease-Detection-System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bca4fc941ce4ed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5fec57061e946c7" /><Relationship Type="http://schemas.openxmlformats.org/officeDocument/2006/relationships/slideLayout" Target="/ppt/slideLayouts/slideLayout1.xml" Id="Ref89efc8b2804fb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f89efc8b2804fb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dc3ec461b549f5" /><Relationship Type="http://schemas.openxmlformats.org/officeDocument/2006/relationships/notesSlide" Target="/ppt/notesSlides/notesSlide1.xml" Id="R6fcfbd2673e34c5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5eebdf45e543a4" /><Relationship Type="http://schemas.openxmlformats.org/officeDocument/2006/relationships/notesSlide" Target="/ppt/notesSlides/notesSlide2.xml" Id="R3b6e34f5ffb14924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eb7c6282284a3e" /><Relationship Type="http://schemas.openxmlformats.org/officeDocument/2006/relationships/notesSlide" Target="/ppt/notesSlides/notesSlide3.xml" Id="R4065f68a294c45e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266f0beb9d4f17" /><Relationship Type="http://schemas.openxmlformats.org/officeDocument/2006/relationships/notesSlide" Target="/ppt/notesSlides/notesSlide4.xml" Id="R5f1102a1262145b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504a3ce78a4428" /><Relationship Type="http://schemas.openxmlformats.org/officeDocument/2006/relationships/notesSlide" Target="/ppt/notesSlides/notesSlide5.xml" Id="Rf8ead3de538049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b63e5442b545b8" /><Relationship Type="http://schemas.openxmlformats.org/officeDocument/2006/relationships/notesSlide" Target="/ppt/notesSlides/notesSlide6.xml" Id="R5cfed5cb823847a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f3509fc7674df7" /><Relationship Type="http://schemas.openxmlformats.org/officeDocument/2006/relationships/notesSlide" Target="/ppt/notesSlides/notesSlide7.xml" Id="R173e281473e14c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0a2941d0324e72" /><Relationship Type="http://schemas.openxmlformats.org/officeDocument/2006/relationships/notesSlide" Target="/ppt/notesSlides/notesSlide8.xml" Id="Rcaf6e0387e0f45c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bb0cedd87446c" /><Relationship Type="http://schemas.openxmlformats.org/officeDocument/2006/relationships/notesSlide" Target="/ppt/notesSlides/notesSlide9.xml" Id="R962a1086b98c48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bed5434f2d4ad6" /><Relationship Type="http://schemas.openxmlformats.org/officeDocument/2006/relationships/notesSlide" Target="/ppt/notesSlides/notesSlide10.xml" Id="R441d8508ac27435f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5f1f1ce1344e82" /><Relationship Type="http://schemas.openxmlformats.org/officeDocument/2006/relationships/notesSlide" Target="/ppt/notesSlides/notesSlide11.xml" Id="Rc0f184012e9c483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7b407c06684a42" /><Relationship Type="http://schemas.openxmlformats.org/officeDocument/2006/relationships/notesSlide" Target="/ppt/notesSlides/notesSlide12.xml" Id="Rfea1e220e18a4fa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9a1595e65a84bf2" /><Relationship Type="http://schemas.openxmlformats.org/officeDocument/2006/relationships/notesSlide" Target="/ppt/notesSlides/notesSlide13.xml" Id="Rf179d69ec92a494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88f19412594f01" /><Relationship Type="http://schemas.openxmlformats.org/officeDocument/2006/relationships/notesSlide" Target="/ppt/notesSlides/notesSlide14.xml" Id="R62fce7d2ce7c4ef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8e6264a0834b3a" /><Relationship Type="http://schemas.openxmlformats.org/officeDocument/2006/relationships/notesSlide" Target="/ppt/notesSlides/notesSlide15.xml" Id="R95f251604d5040b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134e9299f54be0" /><Relationship Type="http://schemas.openxmlformats.org/officeDocument/2006/relationships/notesSlide" Target="/ppt/notesSlides/notesSlide16.xml" Id="Rc52e59fa86c04d8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508DB376-9160-4705-96FD-FF222BFAA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A184E2FE-720C-49D6-B83F-F5474F98A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6667500" cy="144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0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AI SKIN DISEASE</a:t>
            </a:r>
          </a:p>
          <a:p xmlns:a="http://schemas.openxmlformats.org/drawingml/2006/main">
            <a:pPr>
              <a:lnSpc>
                <a:spcPct val="90000"/>
              </a:lnSpc>
              <a:buNone/>
              <a:defRPr sz="4050" b="1">
                <a:solidFill>
                  <a:srgbClr val="FFFFFF"/>
                </a:solidFill>
              </a:defRPr>
            </a:pPr>
            <a:r>
              <a:rPr sz="4050" b="1">
                <a:solidFill>
                  <a:srgbClr val="FFFFFF"/>
                </a:solidFill>
              </a:rPr>
              <a:t>DETECTION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9F5518FC-63D8-4A3F-AA81-2EC640577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600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725">
                <a:solidFill>
                  <a:srgbClr val="B8D8E7"/>
                </a:solidFill>
              </a:defRPr>
            </a:pPr>
            <a:r>
              <a:rPr sz="1725">
                <a:solidFill>
                  <a:srgbClr val="B8D8E7"/>
                </a:solidFill>
              </a:rPr>
              <a:t>An end-to-end prototype for image capture, non-skin rejection, skin-lesion screening, and report generation</a:t>
            </a:r>
          </a:p>
        </p:txBody>
      </p:sp>
      <p:sp>
        <p:nvSpPr>
          <p:cNvPr id="4" name="cover-visual">
            <a:extLst xmlns:a="http://schemas.openxmlformats.org/drawingml/2006/main">
              <a:ext uri="{FF2B5EF4-FFF2-40B4-BE49-F238E27FC236}">
                <a16:creationId xmlns:a16="http://schemas.microsoft.com/office/drawing/2014/main" id="{3C4E0DC5-3818-455C-A2F9-6559C087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104900"/>
            <a:ext cx="2952750" cy="2952750"/>
          </a:xfrm>
          <a:prstGeom xmlns:a="http://schemas.openxmlformats.org/drawingml/2006/main" prst="roundRect">
            <a:avLst>
              <a:gd name="adj" fmla="val 9032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9525">
            <a:solidFill>
              <a:srgbClr val="2A6C84"/>
            </a:solidFill>
            <a:prstDash val="solid"/>
          </a:ln>
        </p:spPr>
      </p:sp>
      <p:sp>
        <p:nvSpPr>
          <p:cNvPr id="5" name="camera-body">
            <a:extLst xmlns:a="http://schemas.openxmlformats.org/drawingml/2006/main">
              <a:ext uri="{FF2B5EF4-FFF2-40B4-BE49-F238E27FC236}">
                <a16:creationId xmlns:a16="http://schemas.microsoft.com/office/drawing/2014/main" id="{DC87A812-B007-4577-94ED-81D5AFD1C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52625"/>
            <a:ext cx="1676400" cy="1066800"/>
          </a:xfrm>
          <a:prstGeom xmlns:a="http://schemas.openxmlformats.org/drawingml/2006/main" prst="roundRect">
            <a:avLst>
              <a:gd name="adj" fmla="val 196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" name="camera-top">
            <a:extLst xmlns:a="http://schemas.openxmlformats.org/drawingml/2006/main">
              <a:ext uri="{FF2B5EF4-FFF2-40B4-BE49-F238E27FC236}">
                <a16:creationId xmlns:a16="http://schemas.microsoft.com/office/drawing/2014/main" id="{97BA8B92-467A-437B-9F6A-76EEA85E9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695450"/>
            <a:ext cx="819150" cy="304800"/>
          </a:xfrm>
          <a:prstGeom xmlns:a="http://schemas.openxmlformats.org/drawingml/2006/main" prst="roundRect">
            <a:avLst>
              <a:gd name="adj" fmla="val 3125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" name="camera-lens">
            <a:extLst xmlns:a="http://schemas.openxmlformats.org/drawingml/2006/main">
              <a:ext uri="{FF2B5EF4-FFF2-40B4-BE49-F238E27FC236}">
                <a16:creationId xmlns:a16="http://schemas.microsoft.com/office/drawing/2014/main" id="{FDAE3B0E-FE8C-4EE7-8C58-012639A1C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143125"/>
            <a:ext cx="723900" cy="723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" name="camera-lens-inner">
            <a:extLst xmlns:a="http://schemas.openxmlformats.org/drawingml/2006/main">
              <a:ext uri="{FF2B5EF4-FFF2-40B4-BE49-F238E27FC236}">
                <a16:creationId xmlns:a16="http://schemas.microsoft.com/office/drawing/2014/main" id="{E9D09B76-87BD-41A9-814D-C61210F80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409825"/>
            <a:ext cx="190500" cy="190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ver-caption">
            <a:extLst xmlns:a="http://schemas.openxmlformats.org/drawingml/2006/main">
              <a:ext uri="{FF2B5EF4-FFF2-40B4-BE49-F238E27FC236}">
                <a16:creationId xmlns:a16="http://schemas.microsoft.com/office/drawing/2014/main" id="{79677E84-64CD-434A-90DC-2E34B9D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352800"/>
            <a:ext cx="2238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Camera → AI → Report</a:t>
            </a:r>
          </a:p>
        </p:txBody>
      </p:sp>
      <p:sp>
        <p:nvSpPr>
          <p:cNvPr id="10" name="cover-footer">
            <a:extLst xmlns:a="http://schemas.openxmlformats.org/drawingml/2006/main">
              <a:ext uri="{FF2B5EF4-FFF2-40B4-BE49-F238E27FC236}">
                <a16:creationId xmlns:a16="http://schemas.microsoft.com/office/drawing/2014/main" id="{04A92B8B-95CD-4E51-8C4C-3B3ACB2BB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10250"/>
            <a:ext cx="590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89A5B7"/>
                </a:solidFill>
              </a:defRPr>
            </a:pPr>
            <a:r>
              <a:rPr sz="1200">
                <a:solidFill>
                  <a:srgbClr val="89A5B7"/>
                </a:solidFill>
              </a:rPr>
              <a:t>Project presentation | Hardware + Python + TensorFlow Lite</a:t>
            </a:r>
          </a:p>
        </p:txBody>
      </p:sp>
      <p:sp>
        <p:nvSpPr>
          <p:cNvPr id="11" name="cover-disclaimer">
            <a:extLst xmlns:a="http://schemas.openxmlformats.org/drawingml/2006/main">
              <a:ext uri="{FF2B5EF4-FFF2-40B4-BE49-F238E27FC236}">
                <a16:creationId xmlns:a16="http://schemas.microsoft.com/office/drawing/2014/main" id="{33817EE3-3CC4-4B4D-BDD0-DA3A24964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191250"/>
            <a:ext cx="666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i="1">
                <a:solidFill>
                  <a:srgbClr val="F28C5B"/>
                </a:solidFill>
              </a:defRPr>
            </a:pPr>
            <a:r>
              <a:rPr sz="1125" i="1">
                <a:solidFill>
                  <a:srgbClr val="F28C5B"/>
                </a:solidFill>
              </a:rPr>
              <a:t>Educational prototype — not a medical diagnostic device</a:t>
            </a:r>
          </a:p>
        </p:txBody>
      </p:sp>
    </p:spTree>
    <p:extLst>
      <p:ext uri="{BB962C8B-B14F-4D97-AF65-F5344CB8AC3E}">
        <p14:creationId xmlns:p14="http://schemas.microsoft.com/office/powerpoint/2010/main" val="134683837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kicker-2">
            <a:extLst xmlns:a="http://schemas.openxmlformats.org/drawingml/2006/main">
              <a:ext uri="{FF2B5EF4-FFF2-40B4-BE49-F238E27FC236}">
                <a16:creationId xmlns:a16="http://schemas.microsoft.com/office/drawing/2014/main" id="{E2CE200E-CC9D-496D-8051-9D632B581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CONTENTS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1B142DD0-7BBF-48B8-99F3-7C3FE8FBF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presentation follows the complete build journey</a:t>
            </a:r>
          </a:p>
        </p:txBody>
      </p:sp>
      <p:sp>
        <p:nvSpPr>
          <p:cNvPr id="3" name="header-rule-2">
            <a:extLst xmlns:a="http://schemas.openxmlformats.org/drawingml/2006/main">
              <a:ext uri="{FF2B5EF4-FFF2-40B4-BE49-F238E27FC236}">
                <a16:creationId xmlns:a16="http://schemas.microsoft.com/office/drawing/2014/main" id="{4B82F4E2-EED0-4751-859D-33DB736E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2">
            <a:extLst xmlns:a="http://schemas.openxmlformats.org/drawingml/2006/main">
              <a:ext uri="{FF2B5EF4-FFF2-40B4-BE49-F238E27FC236}">
                <a16:creationId xmlns:a16="http://schemas.microsoft.com/office/drawing/2014/main" id="{0A3D9823-BEDF-478D-9FF9-A1DB2C31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02</a:t>
            </a:r>
          </a:p>
        </p:txBody>
      </p:sp>
      <p:sp>
        <p:nvSpPr>
          <p:cNvPr id="5" name="contents-left">
            <a:extLst xmlns:a="http://schemas.openxmlformats.org/drawingml/2006/main">
              <a:ext uri="{FF2B5EF4-FFF2-40B4-BE49-F238E27FC236}">
                <a16:creationId xmlns:a16="http://schemas.microsoft.com/office/drawing/2014/main" id="{53E56629-C7EE-4904-8292-A29F0C185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809750"/>
            <a:ext cx="4762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01  Abstract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02  Problem definition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03  Literature review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04  Introduction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05  Proposed block diagram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06  Circuit / algorithm / flowchart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07  Software used</a:t>
            </a:r>
          </a:p>
        </p:txBody>
      </p:sp>
      <p:sp>
        <p:nvSpPr>
          <p:cNvPr id="6" name="contents-right">
            <a:extLst xmlns:a="http://schemas.openxmlformats.org/drawingml/2006/main">
              <a:ext uri="{FF2B5EF4-FFF2-40B4-BE49-F238E27FC236}">
                <a16:creationId xmlns:a16="http://schemas.microsoft.com/office/drawing/2014/main" id="{D1EBE0C1-A4B9-47DC-B0C8-6701399B9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09750"/>
            <a:ext cx="4762500" cy="3524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08  Hardware used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09  Methodology / mathematical analysis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10  Expected results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11  Conclusion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12  Plan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13  End-to-end demonstration</a:t>
            </a:r>
          </a:p>
          <a:p xmlns:a="http://schemas.openxmlformats.org/drawingml/2006/main">
            <a:pPr>
              <a:lnSpc>
                <a:spcPct val="145000"/>
              </a:lnSpc>
              <a:buNone/>
              <a:defRPr sz="1650">
                <a:solidFill>
                  <a:srgbClr val="10233D"/>
                </a:solidFill>
              </a:defRPr>
            </a:pPr>
            <a:r>
              <a:rPr sz="1650">
                <a:solidFill>
                  <a:srgbClr val="10233D"/>
                </a:solidFill>
              </a:rPr>
              <a:t>14  Final status</a:t>
            </a:r>
          </a:p>
        </p:txBody>
      </p:sp>
      <p:sp>
        <p:nvSpPr>
          <p:cNvPr id="7" name="contents-callout">
            <a:extLst xmlns:a="http://schemas.openxmlformats.org/drawingml/2006/main">
              <a:ext uri="{FF2B5EF4-FFF2-40B4-BE49-F238E27FC236}">
                <a16:creationId xmlns:a16="http://schemas.microsoft.com/office/drawing/2014/main" id="{6119CD0F-2E7A-4316-B0ED-F6113C9C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676900"/>
            <a:ext cx="102870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ontents-callout-text">
            <a:extLst xmlns:a="http://schemas.openxmlformats.org/drawingml/2006/main">
              <a:ext uri="{FF2B5EF4-FFF2-40B4-BE49-F238E27FC236}">
                <a16:creationId xmlns:a16="http://schemas.microsoft.com/office/drawing/2014/main" id="{D5B3B5FD-7662-4845-AF6A-447EAEA1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829300"/>
            <a:ext cx="9791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Central idea: capture a good image, reject non-skin inputs, classify cautiously, and generate an explainable report.</a:t>
            </a:r>
          </a:p>
        </p:txBody>
      </p:sp>
    </p:spTree>
    <p:extLst>
      <p:ext uri="{BB962C8B-B14F-4D97-AF65-F5344CB8AC3E}">
        <p14:creationId xmlns:p14="http://schemas.microsoft.com/office/powerpoint/2010/main" val="43035173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3">
            <a:extLst xmlns:a="http://schemas.openxmlformats.org/drawingml/2006/main">
              <a:ext uri="{FF2B5EF4-FFF2-40B4-BE49-F238E27FC236}">
                <a16:creationId xmlns:a16="http://schemas.microsoft.com/office/drawing/2014/main" id="{7D9D191B-A3E2-435D-AAA4-72EC49A99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ABSTRACT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F0D73435-AAB6-461B-81D7-6EEB873CF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system turns a camera image into a cautious screening report</a:t>
            </a:r>
          </a:p>
        </p:txBody>
      </p:sp>
      <p:sp>
        <p:nvSpPr>
          <p:cNvPr id="3" name="header-rule-3">
            <a:extLst xmlns:a="http://schemas.openxmlformats.org/drawingml/2006/main">
              <a:ext uri="{FF2B5EF4-FFF2-40B4-BE49-F238E27FC236}">
                <a16:creationId xmlns:a16="http://schemas.microsoft.com/office/drawing/2014/main" id="{F3CE6B57-94C1-47BE-AC91-4903AB0FD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3">
            <a:extLst xmlns:a="http://schemas.openxmlformats.org/drawingml/2006/main">
              <a:ext uri="{FF2B5EF4-FFF2-40B4-BE49-F238E27FC236}">
                <a16:creationId xmlns:a16="http://schemas.microsoft.com/office/drawing/2014/main" id="{A32740DF-67BA-4503-A28A-D9991D3BA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03</a:t>
            </a:r>
          </a:p>
        </p:txBody>
      </p:sp>
      <p:sp>
        <p:nvSpPr>
          <p:cNvPr id="5" name="abstract-main">
            <a:extLst xmlns:a="http://schemas.openxmlformats.org/drawingml/2006/main">
              <a:ext uri="{FF2B5EF4-FFF2-40B4-BE49-F238E27FC236}">
                <a16:creationId xmlns:a16="http://schemas.microsoft.com/office/drawing/2014/main" id="{A06CEE2C-B607-4103-A1AB-18DBE6E2C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695450"/>
            <a:ext cx="60960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8000"/>
              </a:lnSpc>
              <a:buNone/>
              <a:defRPr sz="1875">
                <a:solidFill>
                  <a:srgbClr val="10233D"/>
                </a:solidFill>
              </a:defRPr>
            </a:pPr>
            <a:r>
              <a:rPr sz="1875">
                <a:solidFill>
                  <a:srgbClr val="10233D"/>
                </a:solidFill>
              </a:rPr>
              <a:t>This project is an educational prototype that combines a camera, a Python web service, and an image classifier. The system captures a skin image, evaluates image quality, checks whether the input is likely to contain skin, classifies supported lesion categories, and generates a downloadable PDF report.</a:t>
            </a:r>
          </a:p>
        </p:txBody>
      </p:sp>
      <p:sp>
        <p:nvSpPr>
          <p:cNvPr id="6" name="abstract-input">
            <a:extLst xmlns:a="http://schemas.openxmlformats.org/drawingml/2006/main">
              <a:ext uri="{FF2B5EF4-FFF2-40B4-BE49-F238E27FC236}">
                <a16:creationId xmlns:a16="http://schemas.microsoft.com/office/drawing/2014/main" id="{A54A083C-1756-4020-93CB-24CA5237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333375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7" name="abstract-input-accent">
            <a:extLst xmlns:a="http://schemas.openxmlformats.org/drawingml/2006/main">
              <a:ext uri="{FF2B5EF4-FFF2-40B4-BE49-F238E27FC236}">
                <a16:creationId xmlns:a16="http://schemas.microsoft.com/office/drawing/2014/main" id="{B3833F2F-3C9D-4AA2-BFDC-EA8CED7CE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6954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abstract-input-title">
            <a:extLst xmlns:a="http://schemas.openxmlformats.org/drawingml/2006/main">
              <a:ext uri="{FF2B5EF4-FFF2-40B4-BE49-F238E27FC236}">
                <a16:creationId xmlns:a16="http://schemas.microsoft.com/office/drawing/2014/main" id="{DA295680-4C1A-4B44-A11B-B95B16E56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8859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Input</a:t>
            </a:r>
          </a:p>
        </p:txBody>
      </p:sp>
      <p:sp>
        <p:nvSpPr>
          <p:cNvPr id="9" name="abstract-input-body">
            <a:extLst xmlns:a="http://schemas.openxmlformats.org/drawingml/2006/main">
              <a:ext uri="{FF2B5EF4-FFF2-40B4-BE49-F238E27FC236}">
                <a16:creationId xmlns:a16="http://schemas.microsoft.com/office/drawing/2014/main" id="{1795FD0E-EE6E-41B8-BDE2-DBCC59BC1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2479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Camera or uploaded image</a:t>
            </a:r>
          </a:p>
        </p:txBody>
      </p:sp>
      <p:sp>
        <p:nvSpPr>
          <p:cNvPr id="10" name="abstract-ai">
            <a:extLst xmlns:a="http://schemas.openxmlformats.org/drawingml/2006/main">
              <a:ext uri="{FF2B5EF4-FFF2-40B4-BE49-F238E27FC236}">
                <a16:creationId xmlns:a16="http://schemas.microsoft.com/office/drawing/2014/main" id="{4C1C99DC-AEF8-4C61-872A-4201E0E33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333375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abstract-ai-accent">
            <a:extLst xmlns:a="http://schemas.openxmlformats.org/drawingml/2006/main">
              <a:ext uri="{FF2B5EF4-FFF2-40B4-BE49-F238E27FC236}">
                <a16:creationId xmlns:a16="http://schemas.microsoft.com/office/drawing/2014/main" id="{C6923C56-385C-4385-A83D-227611763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908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abstract-ai-title">
            <a:extLst xmlns:a="http://schemas.openxmlformats.org/drawingml/2006/main">
              <a:ext uri="{FF2B5EF4-FFF2-40B4-BE49-F238E27FC236}">
                <a16:creationId xmlns:a16="http://schemas.microsoft.com/office/drawing/2014/main" id="{EE9E6480-568B-437E-AEF4-EAABFA3B2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1813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Intelligence</a:t>
            </a:r>
          </a:p>
        </p:txBody>
      </p:sp>
      <p:sp>
        <p:nvSpPr>
          <p:cNvPr id="13" name="abstract-ai-body">
            <a:extLst xmlns:a="http://schemas.openxmlformats.org/drawingml/2006/main">
              <a:ext uri="{FF2B5EF4-FFF2-40B4-BE49-F238E27FC236}">
                <a16:creationId xmlns:a16="http://schemas.microsoft.com/office/drawing/2014/main" id="{D7EEEC11-51F9-4224-B38A-C00AA357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5433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Quality checks + model inference</a:t>
            </a:r>
          </a:p>
        </p:txBody>
      </p:sp>
      <p:sp>
        <p:nvSpPr>
          <p:cNvPr id="14" name="abstract-output">
            <a:extLst xmlns:a="http://schemas.openxmlformats.org/drawingml/2006/main">
              <a:ext uri="{FF2B5EF4-FFF2-40B4-BE49-F238E27FC236}">
                <a16:creationId xmlns:a16="http://schemas.microsoft.com/office/drawing/2014/main" id="{3FE149CA-0096-4ECC-A7F6-7AA82C674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3333750" cy="108585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5" name="abstract-output-accent">
            <a:extLst xmlns:a="http://schemas.openxmlformats.org/drawingml/2006/main">
              <a:ext uri="{FF2B5EF4-FFF2-40B4-BE49-F238E27FC236}">
                <a16:creationId xmlns:a16="http://schemas.microsoft.com/office/drawing/2014/main" id="{9557DDF2-3973-4664-9A47-3852E6BE6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86250"/>
            <a:ext cx="6667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abstract-output-title">
            <a:extLst xmlns:a="http://schemas.openxmlformats.org/drawingml/2006/main">
              <a:ext uri="{FF2B5EF4-FFF2-40B4-BE49-F238E27FC236}">
                <a16:creationId xmlns:a16="http://schemas.microsoft.com/office/drawing/2014/main" id="{BD3AD9AD-313C-4BA7-BD2D-5ABEF41B2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476750"/>
            <a:ext cx="2914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Output</a:t>
            </a:r>
          </a:p>
        </p:txBody>
      </p:sp>
      <p:sp>
        <p:nvSpPr>
          <p:cNvPr id="17" name="abstract-output-body">
            <a:extLst xmlns:a="http://schemas.openxmlformats.org/drawingml/2006/main">
              <a:ext uri="{FF2B5EF4-FFF2-40B4-BE49-F238E27FC236}">
                <a16:creationId xmlns:a16="http://schemas.microsoft.com/office/drawing/2014/main" id="{00A23082-1D68-4F59-8557-320DDA6D5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838700"/>
            <a:ext cx="2914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Prediction, confidence, PDF report</a:t>
            </a:r>
          </a:p>
        </p:txBody>
      </p:sp>
      <p:sp>
        <p:nvSpPr>
          <p:cNvPr id="18" name="abstract-note">
            <a:extLst xmlns:a="http://schemas.openxmlformats.org/drawingml/2006/main">
              <a:ext uri="{FF2B5EF4-FFF2-40B4-BE49-F238E27FC236}">
                <a16:creationId xmlns:a16="http://schemas.microsoft.com/office/drawing/2014/main" id="{F382F4BB-9A9E-4632-9AEB-4C94D993F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6000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i="1">
                <a:solidFill>
                  <a:srgbClr val="52657D"/>
                </a:solidFill>
              </a:defRPr>
            </a:pPr>
            <a:r>
              <a:rPr sz="1500" i="1">
                <a:solidFill>
                  <a:srgbClr val="52657D"/>
                </a:solidFill>
              </a:rPr>
              <a:t>The goal is not to replace a clinician. The goal is to demonstrate a complete, testable AI-enabled hardware workflow.</a:t>
            </a:r>
          </a:p>
        </p:txBody>
      </p:sp>
    </p:spTree>
    <p:extLst>
      <p:ext uri="{BB962C8B-B14F-4D97-AF65-F5344CB8AC3E}">
        <p14:creationId xmlns:p14="http://schemas.microsoft.com/office/powerpoint/2010/main" val="2846335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4">
            <a:extLst xmlns:a="http://schemas.openxmlformats.org/drawingml/2006/main">
              <a:ext uri="{FF2B5EF4-FFF2-40B4-BE49-F238E27FC236}">
                <a16:creationId xmlns:a16="http://schemas.microsoft.com/office/drawing/2014/main" id="{F34D022E-C076-4FA2-8944-935CA53A9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PROBLEM DEFINITION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244ED923-9F77-4ED1-B86B-7CAEAE959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A classifier can be confidently wrong when the input is not skin</a:t>
            </a:r>
          </a:p>
        </p:txBody>
      </p:sp>
      <p:sp>
        <p:nvSpPr>
          <p:cNvPr id="3" name="header-rule-4">
            <a:extLst xmlns:a="http://schemas.openxmlformats.org/drawingml/2006/main">
              <a:ext uri="{FF2B5EF4-FFF2-40B4-BE49-F238E27FC236}">
                <a16:creationId xmlns:a16="http://schemas.microsoft.com/office/drawing/2014/main" id="{2CC8B2C6-D11E-4CF2-81AF-CE8002B1A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4">
            <a:extLst xmlns:a="http://schemas.openxmlformats.org/drawingml/2006/main">
              <a:ext uri="{FF2B5EF4-FFF2-40B4-BE49-F238E27FC236}">
                <a16:creationId xmlns:a16="http://schemas.microsoft.com/office/drawing/2014/main" id="{CF282660-3D6F-4B63-8358-12F57B399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04</a:t>
            </a:r>
          </a:p>
        </p:txBody>
      </p:sp>
      <p:sp>
        <p:nvSpPr>
          <p:cNvPr id="5" name="problem-random">
            <a:extLst xmlns:a="http://schemas.openxmlformats.org/drawingml/2006/main">
              <a:ext uri="{FF2B5EF4-FFF2-40B4-BE49-F238E27FC236}">
                <a16:creationId xmlns:a16="http://schemas.microsoft.com/office/drawing/2014/main" id="{7E6C584A-58A0-44FA-BEDA-0D2847A60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problem-random-accent">
            <a:extLst xmlns:a="http://schemas.openxmlformats.org/drawingml/2006/main">
              <a:ext uri="{FF2B5EF4-FFF2-40B4-BE49-F238E27FC236}">
                <a16:creationId xmlns:a16="http://schemas.microsoft.com/office/drawing/2014/main" id="{5A479070-35D8-4C24-9E09-A4ECB36D0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716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problem-random-title">
            <a:extLst xmlns:a="http://schemas.openxmlformats.org/drawingml/2006/main">
              <a:ext uri="{FF2B5EF4-FFF2-40B4-BE49-F238E27FC236}">
                <a16:creationId xmlns:a16="http://schemas.microsoft.com/office/drawing/2014/main" id="{454B2B11-A41F-4232-BCC8-E0E458AE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962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Random input</a:t>
            </a:r>
          </a:p>
        </p:txBody>
      </p:sp>
      <p:sp>
        <p:nvSpPr>
          <p:cNvPr id="8" name="problem-random-body">
            <a:extLst xmlns:a="http://schemas.openxmlformats.org/drawingml/2006/main">
              <a:ext uri="{FF2B5EF4-FFF2-40B4-BE49-F238E27FC236}">
                <a16:creationId xmlns:a16="http://schemas.microsoft.com/office/drawing/2014/main" id="{C6A00581-507C-4517-A96D-0CBA66319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Tables, fans, notes, rooms, and animals may be forced into the closest disease class.</a:t>
            </a:r>
          </a:p>
        </p:txBody>
      </p:sp>
      <p:sp>
        <p:nvSpPr>
          <p:cNvPr id="9" name="problem-bias">
            <a:extLst xmlns:a="http://schemas.openxmlformats.org/drawingml/2006/main">
              <a:ext uri="{FF2B5EF4-FFF2-40B4-BE49-F238E27FC236}">
                <a16:creationId xmlns:a16="http://schemas.microsoft.com/office/drawing/2014/main" id="{6BA0D813-7BC8-4108-9305-086797466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716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problem-bias-accent">
            <a:extLst xmlns:a="http://schemas.openxmlformats.org/drawingml/2006/main">
              <a:ext uri="{FF2B5EF4-FFF2-40B4-BE49-F238E27FC236}">
                <a16:creationId xmlns:a16="http://schemas.microsoft.com/office/drawing/2014/main" id="{BA1DD2EE-AF15-49A0-8B86-710DA7CB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716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problem-bias-title">
            <a:extLst xmlns:a="http://schemas.openxmlformats.org/drawingml/2006/main">
              <a:ext uri="{FF2B5EF4-FFF2-40B4-BE49-F238E27FC236}">
                <a16:creationId xmlns:a16="http://schemas.microsoft.com/office/drawing/2014/main" id="{580356BB-57D4-4C53-9DA0-8F73A7F3D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62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Model bias</a:t>
            </a:r>
          </a:p>
        </p:txBody>
      </p:sp>
      <p:sp>
        <p:nvSpPr>
          <p:cNvPr id="12" name="problem-bias-body">
            <a:extLst xmlns:a="http://schemas.openxmlformats.org/drawingml/2006/main">
              <a:ext uri="{FF2B5EF4-FFF2-40B4-BE49-F238E27FC236}">
                <a16:creationId xmlns:a16="http://schemas.microsoft.com/office/drawing/2014/main" id="{CBAFD596-812A-4ACC-A804-A1A07EAE6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241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A dominant training class can appear repeatedly even when the image does not match it.</a:t>
            </a:r>
          </a:p>
        </p:txBody>
      </p:sp>
      <p:sp>
        <p:nvSpPr>
          <p:cNvPr id="13" name="problem-scope">
            <a:extLst xmlns:a="http://schemas.openxmlformats.org/drawingml/2006/main">
              <a:ext uri="{FF2B5EF4-FFF2-40B4-BE49-F238E27FC236}">
                <a16:creationId xmlns:a16="http://schemas.microsoft.com/office/drawing/2014/main" id="{7A1678BE-4050-4A1F-AEDA-09C639B69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3143250" cy="2190750"/>
          </a:xfrm>
          <a:prstGeom xmlns:a="http://schemas.openxmlformats.org/drawingml/2006/main" prst="roundRect">
            <a:avLst>
              <a:gd name="adj" fmla="val 608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problem-scope-accent">
            <a:extLst xmlns:a="http://schemas.openxmlformats.org/drawingml/2006/main">
              <a:ext uri="{FF2B5EF4-FFF2-40B4-BE49-F238E27FC236}">
                <a16:creationId xmlns:a16="http://schemas.microsoft.com/office/drawing/2014/main" id="{404F1E2E-B2F4-4B9F-A2C3-44C92541F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17716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problem-scope-title">
            <a:extLst xmlns:a="http://schemas.openxmlformats.org/drawingml/2006/main">
              <a:ext uri="{FF2B5EF4-FFF2-40B4-BE49-F238E27FC236}">
                <a16:creationId xmlns:a16="http://schemas.microsoft.com/office/drawing/2014/main" id="{28C8DC0B-1980-4787-BC99-DB9596495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19621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Scope gap</a:t>
            </a:r>
          </a:p>
        </p:txBody>
      </p:sp>
      <p:sp>
        <p:nvSpPr>
          <p:cNvPr id="16" name="problem-scope-body">
            <a:extLst xmlns:a="http://schemas.openxmlformats.org/drawingml/2006/main">
              <a:ext uri="{FF2B5EF4-FFF2-40B4-BE49-F238E27FC236}">
                <a16:creationId xmlns:a16="http://schemas.microsoft.com/office/drawing/2014/main" id="{82D39E84-D774-4CB4-8691-3DBDF9E89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7241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The current local model supports a limited label set; it cannot know conditions absent from training.</a:t>
            </a:r>
          </a:p>
        </p:txBody>
      </p:sp>
      <p:sp>
        <p:nvSpPr>
          <p:cNvPr id="17" name="problem-principle">
            <a:extLst xmlns:a="http://schemas.openxmlformats.org/drawingml/2006/main">
              <a:ext uri="{FF2B5EF4-FFF2-40B4-BE49-F238E27FC236}">
                <a16:creationId xmlns:a16="http://schemas.microsoft.com/office/drawing/2014/main" id="{2E364989-BC6C-445B-86F8-9D46F0188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86300"/>
            <a:ext cx="10629900" cy="9906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problem-principle-title">
            <a:extLst xmlns:a="http://schemas.openxmlformats.org/drawingml/2006/main">
              <a:ext uri="{FF2B5EF4-FFF2-40B4-BE49-F238E27FC236}">
                <a16:creationId xmlns:a16="http://schemas.microsoft.com/office/drawing/2014/main" id="{563A0107-5571-46DD-92F0-354D2857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05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28B8D7"/>
                </a:solidFill>
              </a:defRPr>
            </a:pPr>
            <a:r>
              <a:rPr sz="1575" b="1">
                <a:solidFill>
                  <a:srgbClr val="28B8D7"/>
                </a:solidFill>
              </a:rPr>
              <a:t>Design principle</a:t>
            </a:r>
          </a:p>
        </p:txBody>
      </p:sp>
      <p:sp>
        <p:nvSpPr>
          <p:cNvPr id="19" name="problem-principle-body">
            <a:extLst xmlns:a="http://schemas.openxmlformats.org/drawingml/2006/main">
              <a:ext uri="{FF2B5EF4-FFF2-40B4-BE49-F238E27FC236}">
                <a16:creationId xmlns:a16="http://schemas.microsoft.com/office/drawing/2014/main" id="{BB7DFC1F-C738-44A5-A2D2-3B80FADA5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485775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Reject clearly invalid inputs before disease classification, and report uncertainty instead of inventing certainty.</a:t>
            </a:r>
          </a:p>
        </p:txBody>
      </p:sp>
    </p:spTree>
    <p:extLst>
      <p:ext uri="{BB962C8B-B14F-4D97-AF65-F5344CB8AC3E}">
        <p14:creationId xmlns:p14="http://schemas.microsoft.com/office/powerpoint/2010/main" val="52225438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kicker-5">
            <a:extLst xmlns:a="http://schemas.openxmlformats.org/drawingml/2006/main">
              <a:ext uri="{FF2B5EF4-FFF2-40B4-BE49-F238E27FC236}">
                <a16:creationId xmlns:a16="http://schemas.microsoft.com/office/drawing/2014/main" id="{E5763FF8-01D7-4D4C-A948-67D137DA4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LITERATURE REVIEW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6B19FA5-F899-46AB-9CB6-61DE80F76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design combines established building blocks</a:t>
            </a:r>
          </a:p>
        </p:txBody>
      </p:sp>
      <p:sp>
        <p:nvSpPr>
          <p:cNvPr id="3" name="header-rule-5">
            <a:extLst xmlns:a="http://schemas.openxmlformats.org/drawingml/2006/main">
              <a:ext uri="{FF2B5EF4-FFF2-40B4-BE49-F238E27FC236}">
                <a16:creationId xmlns:a16="http://schemas.microsoft.com/office/drawing/2014/main" id="{09BB6F6C-FFD8-4A52-8870-1FEA736B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5">
            <a:extLst xmlns:a="http://schemas.openxmlformats.org/drawingml/2006/main">
              <a:ext uri="{FF2B5EF4-FFF2-40B4-BE49-F238E27FC236}">
                <a16:creationId xmlns:a16="http://schemas.microsoft.com/office/drawing/2014/main" id="{4509A92D-8586-4A9C-A0F2-34529A785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05</a:t>
            </a:r>
          </a:p>
        </p:txBody>
      </p:sp>
      <p:sp>
        <p:nvSpPr>
          <p:cNvPr id="5" name="lit-label-0">
            <a:extLst xmlns:a="http://schemas.openxmlformats.org/drawingml/2006/main">
              <a:ext uri="{FF2B5EF4-FFF2-40B4-BE49-F238E27FC236}">
                <a16:creationId xmlns:a16="http://schemas.microsoft.com/office/drawing/2014/main" id="{C4E1B9D6-2309-43FE-9553-72F27640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76400"/>
            <a:ext cx="24955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lit-label-text-0">
            <a:extLst xmlns:a="http://schemas.openxmlformats.org/drawingml/2006/main">
              <a:ext uri="{FF2B5EF4-FFF2-40B4-BE49-F238E27FC236}">
                <a16:creationId xmlns:a16="http://schemas.microsoft.com/office/drawing/2014/main" id="{DC851F80-A357-4957-A6D0-548C8E734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D"/>
                </a:solidFill>
              </a:defRPr>
            </a:pPr>
            <a:r>
              <a:rPr sz="1425" b="1">
                <a:solidFill>
                  <a:srgbClr val="10233D"/>
                </a:solidFill>
              </a:rPr>
              <a:t>Medical image datasets</a:t>
            </a:r>
          </a:p>
        </p:txBody>
      </p:sp>
      <p:sp>
        <p:nvSpPr>
          <p:cNvPr id="7" name="lit-body-0">
            <a:extLst xmlns:a="http://schemas.openxmlformats.org/drawingml/2006/main">
              <a:ext uri="{FF2B5EF4-FFF2-40B4-BE49-F238E27FC236}">
                <a16:creationId xmlns:a16="http://schemas.microsoft.com/office/drawing/2014/main" id="{C7EFE36D-E2BF-49DD-88DE-687EEB871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8192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ISIC / HAM-style lesion images provide labeled examples for research classifiers.</a:t>
            </a:r>
          </a:p>
        </p:txBody>
      </p:sp>
      <p:sp>
        <p:nvSpPr>
          <p:cNvPr id="8" name="lit-rule-0">
            <a:extLst xmlns:a="http://schemas.openxmlformats.org/drawingml/2006/main">
              <a:ext uri="{FF2B5EF4-FFF2-40B4-BE49-F238E27FC236}">
                <a16:creationId xmlns:a16="http://schemas.microsoft.com/office/drawing/2014/main" id="{C9F34B8E-D8FD-48D9-BFA0-A2747F8FF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362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9" name="lit-label-1">
            <a:extLst xmlns:a="http://schemas.openxmlformats.org/drawingml/2006/main">
              <a:ext uri="{FF2B5EF4-FFF2-40B4-BE49-F238E27FC236}">
                <a16:creationId xmlns:a16="http://schemas.microsoft.com/office/drawing/2014/main" id="{84695C71-DE08-4CAF-A393-282F7B003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24955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lit-label-text-1">
            <a:extLst xmlns:a="http://schemas.openxmlformats.org/drawingml/2006/main">
              <a:ext uri="{FF2B5EF4-FFF2-40B4-BE49-F238E27FC236}">
                <a16:creationId xmlns:a16="http://schemas.microsoft.com/office/drawing/2014/main" id="{07C03695-FD94-4957-BF22-1DCF08624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194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D"/>
                </a:solidFill>
              </a:defRPr>
            </a:pPr>
            <a:r>
              <a:rPr sz="1425" b="1">
                <a:solidFill>
                  <a:srgbClr val="10233D"/>
                </a:solidFill>
              </a:rPr>
              <a:t>Transfer learning</a:t>
            </a:r>
          </a:p>
        </p:txBody>
      </p:sp>
      <p:sp>
        <p:nvSpPr>
          <p:cNvPr id="11" name="lit-body-1">
            <a:extLst xmlns:a="http://schemas.openxmlformats.org/drawingml/2006/main">
              <a:ext uri="{FF2B5EF4-FFF2-40B4-BE49-F238E27FC236}">
                <a16:creationId xmlns:a16="http://schemas.microsoft.com/office/drawing/2014/main" id="{D65DEC1D-8D56-4476-B6FC-20FF3076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27717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MobileNetV2 reduces training cost by starting from learned visual features.</a:t>
            </a:r>
          </a:p>
        </p:txBody>
      </p:sp>
      <p:sp>
        <p:nvSpPr>
          <p:cNvPr id="12" name="lit-rule-1">
            <a:extLst xmlns:a="http://schemas.openxmlformats.org/drawingml/2006/main">
              <a:ext uri="{FF2B5EF4-FFF2-40B4-BE49-F238E27FC236}">
                <a16:creationId xmlns:a16="http://schemas.microsoft.com/office/drawing/2014/main" id="{A8680E74-B445-4F05-A317-9EF814E8F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314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3" name="lit-label-2">
            <a:extLst xmlns:a="http://schemas.openxmlformats.org/drawingml/2006/main">
              <a:ext uri="{FF2B5EF4-FFF2-40B4-BE49-F238E27FC236}">
                <a16:creationId xmlns:a16="http://schemas.microsoft.com/office/drawing/2014/main" id="{69C4C0A2-6239-436B-992D-99989FB4A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581400"/>
            <a:ext cx="24955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lit-label-text-2">
            <a:extLst xmlns:a="http://schemas.openxmlformats.org/drawingml/2006/main">
              <a:ext uri="{FF2B5EF4-FFF2-40B4-BE49-F238E27FC236}">
                <a16:creationId xmlns:a16="http://schemas.microsoft.com/office/drawing/2014/main" id="{8C5BF326-CB54-499A-99EC-EEE91070F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D"/>
                </a:solidFill>
              </a:defRPr>
            </a:pPr>
            <a:r>
              <a:rPr sz="1425" b="1">
                <a:solidFill>
                  <a:srgbClr val="10233D"/>
                </a:solidFill>
              </a:rPr>
              <a:t>Edge inference</a:t>
            </a:r>
          </a:p>
        </p:txBody>
      </p:sp>
      <p:sp>
        <p:nvSpPr>
          <p:cNvPr id="15" name="lit-body-2">
            <a:extLst xmlns:a="http://schemas.openxmlformats.org/drawingml/2006/main">
              <a:ext uri="{FF2B5EF4-FFF2-40B4-BE49-F238E27FC236}">
                <a16:creationId xmlns:a16="http://schemas.microsoft.com/office/drawing/2014/main" id="{DC1AC671-5DD2-4D0B-9E13-6E98B47C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7242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TensorFlow Lite enables a smaller model to run on constrained devices.</a:t>
            </a:r>
          </a:p>
        </p:txBody>
      </p:sp>
      <p:sp>
        <p:nvSpPr>
          <p:cNvPr id="16" name="lit-rule-2">
            <a:extLst xmlns:a="http://schemas.openxmlformats.org/drawingml/2006/main">
              <a:ext uri="{FF2B5EF4-FFF2-40B4-BE49-F238E27FC236}">
                <a16:creationId xmlns:a16="http://schemas.microsoft.com/office/drawing/2014/main" id="{1C028E8B-08C0-40EA-994C-47CF7657D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2672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lit-label-3">
            <a:extLst xmlns:a="http://schemas.openxmlformats.org/drawingml/2006/main">
              <a:ext uri="{FF2B5EF4-FFF2-40B4-BE49-F238E27FC236}">
                <a16:creationId xmlns:a16="http://schemas.microsoft.com/office/drawing/2014/main" id="{1E63C26E-69E8-411E-A08F-1ADB620AA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533900"/>
            <a:ext cx="2495550" cy="6858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lit-label-text-3">
            <a:extLst xmlns:a="http://schemas.openxmlformats.org/drawingml/2006/main">
              <a:ext uri="{FF2B5EF4-FFF2-40B4-BE49-F238E27FC236}">
                <a16:creationId xmlns:a16="http://schemas.microsoft.com/office/drawing/2014/main" id="{9CABBC44-5BD9-4347-B398-FE937280B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244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0233D"/>
                </a:solidFill>
              </a:defRPr>
            </a:pPr>
            <a:r>
              <a:rPr sz="1425" b="1">
                <a:solidFill>
                  <a:srgbClr val="10233D"/>
                </a:solidFill>
              </a:rPr>
              <a:t>Human-centered screening</a:t>
            </a:r>
          </a:p>
        </p:txBody>
      </p:sp>
      <p:sp>
        <p:nvSpPr>
          <p:cNvPr id="19" name="lit-body-3">
            <a:extLst xmlns:a="http://schemas.openxmlformats.org/drawingml/2006/main">
              <a:ext uri="{FF2B5EF4-FFF2-40B4-BE49-F238E27FC236}">
                <a16:creationId xmlns:a16="http://schemas.microsoft.com/office/drawing/2014/main" id="{92EDE2C0-07E6-4B96-8DB3-CA8907495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4676775"/>
            <a:ext cx="7429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Quality warnings, uncertainty, and a clear disclaimer reduce over-interpretation.</a:t>
            </a:r>
          </a:p>
        </p:txBody>
      </p:sp>
      <p:sp>
        <p:nvSpPr>
          <p:cNvPr id="20" name="lit-rule-3">
            <a:extLst xmlns:a="http://schemas.openxmlformats.org/drawingml/2006/main">
              <a:ext uri="{FF2B5EF4-FFF2-40B4-BE49-F238E27FC236}">
                <a16:creationId xmlns:a16="http://schemas.microsoft.com/office/drawing/2014/main" id="{B49B0729-E508-4CD4-BE10-4F2310A3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5219700"/>
            <a:ext cx="742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1" name="lit-conclusion">
            <a:extLst xmlns:a="http://schemas.openxmlformats.org/drawingml/2006/main">
              <a:ext uri="{FF2B5EF4-FFF2-40B4-BE49-F238E27FC236}">
                <a16:creationId xmlns:a16="http://schemas.microsoft.com/office/drawing/2014/main" id="{D05A6025-70FA-4195-AA35-5A64B153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02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The contribution of this project is integration: camera capture, validation, inference, API response, and reporting in one workflow.</a:t>
            </a:r>
          </a:p>
        </p:txBody>
      </p:sp>
    </p:spTree>
    <p:extLst>
      <p:ext uri="{BB962C8B-B14F-4D97-AF65-F5344CB8AC3E}">
        <p14:creationId xmlns:p14="http://schemas.microsoft.com/office/powerpoint/2010/main" val="16312286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kicker-6">
            <a:extLst xmlns:a="http://schemas.openxmlformats.org/drawingml/2006/main">
              <a:ext uri="{FF2B5EF4-FFF2-40B4-BE49-F238E27FC236}">
                <a16:creationId xmlns:a16="http://schemas.microsoft.com/office/drawing/2014/main" id="{384D1D3B-808B-47C2-983D-40CC06647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INTRODUCTION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ECAA1B49-DAF9-43F9-B4A1-0D122F885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project is a pipeline, not just a prediction model</a:t>
            </a:r>
          </a:p>
        </p:txBody>
      </p:sp>
      <p:sp>
        <p:nvSpPr>
          <p:cNvPr id="3" name="header-rule-6">
            <a:extLst xmlns:a="http://schemas.openxmlformats.org/drawingml/2006/main">
              <a:ext uri="{FF2B5EF4-FFF2-40B4-BE49-F238E27FC236}">
                <a16:creationId xmlns:a16="http://schemas.microsoft.com/office/drawing/2014/main" id="{8AF24C3A-00A4-43BF-BCEF-778EC2DFD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6">
            <a:extLst xmlns:a="http://schemas.openxmlformats.org/drawingml/2006/main">
              <a:ext uri="{FF2B5EF4-FFF2-40B4-BE49-F238E27FC236}">
                <a16:creationId xmlns:a16="http://schemas.microsoft.com/office/drawing/2014/main" id="{AC0F7B8C-B870-43FC-A493-8CA27F005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06</a:t>
            </a:r>
          </a:p>
        </p:txBody>
      </p:sp>
      <p:sp>
        <p:nvSpPr>
          <p:cNvPr id="5" name="flow-line-0">
            <a:extLst xmlns:a="http://schemas.openxmlformats.org/drawingml/2006/main">
              <a:ext uri="{FF2B5EF4-FFF2-40B4-BE49-F238E27FC236}">
                <a16:creationId xmlns:a16="http://schemas.microsoft.com/office/drawing/2014/main" id="{8D57D0AC-B623-43B8-909C-0B58A58A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90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6" name="flow-arrow-0">
            <a:extLst xmlns:a="http://schemas.openxmlformats.org/drawingml/2006/main">
              <a:ext uri="{FF2B5EF4-FFF2-40B4-BE49-F238E27FC236}">
                <a16:creationId xmlns:a16="http://schemas.microsoft.com/office/drawing/2014/main" id="{C0D559A6-163D-43C1-A243-EAA72400C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52725" y="2428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7" name="flow-node-0">
            <a:extLst xmlns:a="http://schemas.openxmlformats.org/drawingml/2006/main">
              <a:ext uri="{FF2B5EF4-FFF2-40B4-BE49-F238E27FC236}">
                <a16:creationId xmlns:a16="http://schemas.microsoft.com/office/drawing/2014/main" id="{6C400128-B704-401E-A60E-DDA087F4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8" name="flow-line-1">
            <a:extLst xmlns:a="http://schemas.openxmlformats.org/drawingml/2006/main">
              <a:ext uri="{FF2B5EF4-FFF2-40B4-BE49-F238E27FC236}">
                <a16:creationId xmlns:a16="http://schemas.microsoft.com/office/drawing/2014/main" id="{8BE0115C-D8D0-409F-A8B3-B4596EE8D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90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9" name="flow-arrow-1">
            <a:extLst xmlns:a="http://schemas.openxmlformats.org/drawingml/2006/main">
              <a:ext uri="{FF2B5EF4-FFF2-40B4-BE49-F238E27FC236}">
                <a16:creationId xmlns:a16="http://schemas.microsoft.com/office/drawing/2014/main" id="{1AA45216-5727-4CEC-A57B-BF4100377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28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0" name="flow-node-1">
            <a:extLst xmlns:a="http://schemas.openxmlformats.org/drawingml/2006/main">
              <a:ext uri="{FF2B5EF4-FFF2-40B4-BE49-F238E27FC236}">
                <a16:creationId xmlns:a16="http://schemas.microsoft.com/office/drawing/2014/main" id="{6DB2042E-EE83-473F-8754-33ECD2EB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1" name="flow-line-2">
            <a:extLst xmlns:a="http://schemas.openxmlformats.org/drawingml/2006/main">
              <a:ext uri="{FF2B5EF4-FFF2-40B4-BE49-F238E27FC236}">
                <a16:creationId xmlns:a16="http://schemas.microsoft.com/office/drawing/2014/main" id="{D38FA041-603F-4F35-A458-8DE50491E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90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2" name="flow-arrow-2">
            <a:extLst xmlns:a="http://schemas.openxmlformats.org/drawingml/2006/main">
              <a:ext uri="{FF2B5EF4-FFF2-40B4-BE49-F238E27FC236}">
                <a16:creationId xmlns:a16="http://schemas.microsoft.com/office/drawing/2014/main" id="{695BE062-311A-4498-A943-1A9D35C3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2325" y="2428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3" name="flow-node-2">
            <a:extLst xmlns:a="http://schemas.openxmlformats.org/drawingml/2006/main">
              <a:ext uri="{FF2B5EF4-FFF2-40B4-BE49-F238E27FC236}">
                <a16:creationId xmlns:a16="http://schemas.microsoft.com/office/drawing/2014/main" id="{4B95EB4A-3B64-4A74-A4A9-B79FD358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09550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flow-line-3">
            <a:extLst xmlns:a="http://schemas.openxmlformats.org/drawingml/2006/main">
              <a:ext uri="{FF2B5EF4-FFF2-40B4-BE49-F238E27FC236}">
                <a16:creationId xmlns:a16="http://schemas.microsoft.com/office/drawing/2014/main" id="{D1A0585B-8CD9-4EB7-9413-5674912AB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590800"/>
            <a:ext cx="304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3D8DFF"/>
            </a:solidFill>
            <a:prstDash val="solid"/>
          </a:ln>
        </p:spPr>
      </p:sp>
      <p:sp>
        <p:nvSpPr>
          <p:cNvPr id="15" name="flow-arrow-3">
            <a:extLst xmlns:a="http://schemas.openxmlformats.org/drawingml/2006/main">
              <a:ext uri="{FF2B5EF4-FFF2-40B4-BE49-F238E27FC236}">
                <a16:creationId xmlns:a16="http://schemas.microsoft.com/office/drawing/2014/main" id="{68C837AB-354E-4EBC-8EB1-50BF79185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2125" y="242887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D8DFF"/>
                </a:solidFill>
              </a:defRPr>
            </a:pPr>
            <a:r>
              <a:rPr sz="180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6" name="flow-node-3">
            <a:extLst xmlns:a="http://schemas.openxmlformats.org/drawingml/2006/main">
              <a:ext uri="{FF2B5EF4-FFF2-40B4-BE49-F238E27FC236}">
                <a16:creationId xmlns:a16="http://schemas.microsoft.com/office/drawing/2014/main" id="{1BCE33A0-1E19-4EF2-B29E-AFDC1704A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09550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7" name="flow-node-4">
            <a:extLst xmlns:a="http://schemas.openxmlformats.org/drawingml/2006/main">
              <a:ext uri="{FF2B5EF4-FFF2-40B4-BE49-F238E27FC236}">
                <a16:creationId xmlns:a16="http://schemas.microsoft.com/office/drawing/2014/main" id="{A0F0981C-9F9B-4307-BF4E-C0A30447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095500"/>
            <a:ext cx="1809750" cy="9906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18" name="flow-label-0">
            <a:extLst xmlns:a="http://schemas.openxmlformats.org/drawingml/2006/main">
              <a:ext uri="{FF2B5EF4-FFF2-40B4-BE49-F238E27FC236}">
                <a16:creationId xmlns:a16="http://schemas.microsoft.com/office/drawing/2014/main" id="{04DCF0D1-5F99-4DF7-A7CA-A0E3AF663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622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Capture</a:t>
            </a:r>
          </a:p>
        </p:txBody>
      </p:sp>
      <p:sp>
        <p:nvSpPr>
          <p:cNvPr id="19" name="flow-label-1">
            <a:extLst xmlns:a="http://schemas.openxmlformats.org/drawingml/2006/main">
              <a:ext uri="{FF2B5EF4-FFF2-40B4-BE49-F238E27FC236}">
                <a16:creationId xmlns:a16="http://schemas.microsoft.com/office/drawing/2014/main" id="{81CE8D84-65AA-47B1-BBC1-FDE86AC22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23622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Validate</a:t>
            </a:r>
          </a:p>
        </p:txBody>
      </p:sp>
      <p:sp>
        <p:nvSpPr>
          <p:cNvPr id="20" name="flow-label-2">
            <a:extLst xmlns:a="http://schemas.openxmlformats.org/drawingml/2006/main">
              <a:ext uri="{FF2B5EF4-FFF2-40B4-BE49-F238E27FC236}">
                <a16:creationId xmlns:a16="http://schemas.microsoft.com/office/drawing/2014/main" id="{BEF72E97-EB3B-4425-BD2A-384A5EFAF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72100" y="23622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Reject</a:t>
            </a:r>
          </a:p>
        </p:txBody>
      </p:sp>
      <p:sp>
        <p:nvSpPr>
          <p:cNvPr id="21" name="flow-label-3">
            <a:extLst xmlns:a="http://schemas.openxmlformats.org/drawingml/2006/main">
              <a:ext uri="{FF2B5EF4-FFF2-40B4-BE49-F238E27FC236}">
                <a16:creationId xmlns:a16="http://schemas.microsoft.com/office/drawing/2014/main" id="{B5C46710-110E-4E91-A2A5-4C3E1FA88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3622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Classify</a:t>
            </a:r>
          </a:p>
        </p:txBody>
      </p:sp>
      <p:sp>
        <p:nvSpPr>
          <p:cNvPr id="22" name="flow-label-4">
            <a:extLst xmlns:a="http://schemas.openxmlformats.org/drawingml/2006/main">
              <a:ext uri="{FF2B5EF4-FFF2-40B4-BE49-F238E27FC236}">
                <a16:creationId xmlns:a16="http://schemas.microsoft.com/office/drawing/2014/main" id="{6765C063-3B47-4ED1-94F8-2B9A877C9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2362200"/>
            <a:ext cx="14668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33D"/>
                </a:solidFill>
              </a:defRPr>
            </a:pPr>
            <a:r>
              <a:rPr sz="1500" b="1">
                <a:solidFill>
                  <a:srgbClr val="10233D"/>
                </a:solidFill>
              </a:rPr>
              <a:t>Report</a:t>
            </a:r>
          </a:p>
        </p:txBody>
      </p:sp>
      <p:sp>
        <p:nvSpPr>
          <p:cNvPr id="23" name="intro-capture">
            <a:extLst xmlns:a="http://schemas.openxmlformats.org/drawingml/2006/main">
              <a:ext uri="{FF2B5EF4-FFF2-40B4-BE49-F238E27FC236}">
                <a16:creationId xmlns:a16="http://schemas.microsoft.com/office/drawing/2014/main" id="{83FF3F20-F4E1-44F1-8BB0-E7645C58B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Capture</a:t>
            </a:r>
          </a:p>
        </p:txBody>
      </p:sp>
      <p:sp>
        <p:nvSpPr>
          <p:cNvPr id="24" name="intro-capture-body">
            <a:extLst xmlns:a="http://schemas.openxmlformats.org/drawingml/2006/main">
              <a:ext uri="{FF2B5EF4-FFF2-40B4-BE49-F238E27FC236}">
                <a16:creationId xmlns:a16="http://schemas.microsoft.com/office/drawing/2014/main" id="{641A810F-6F3B-494B-82C0-C023961BF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24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Use a Raspberry Pi Camera Module or browser upload.</a:t>
            </a:r>
          </a:p>
        </p:txBody>
      </p:sp>
      <p:sp>
        <p:nvSpPr>
          <p:cNvPr id="25" name="intro-validate">
            <a:extLst xmlns:a="http://schemas.openxmlformats.org/drawingml/2006/main">
              <a:ext uri="{FF2B5EF4-FFF2-40B4-BE49-F238E27FC236}">
                <a16:creationId xmlns:a16="http://schemas.microsoft.com/office/drawing/2014/main" id="{5157AD7D-E47E-4A82-A41B-BA2C7AED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Validate</a:t>
            </a:r>
          </a:p>
        </p:txBody>
      </p:sp>
      <p:sp>
        <p:nvSpPr>
          <p:cNvPr id="26" name="intro-validate-body">
            <a:extLst xmlns:a="http://schemas.openxmlformats.org/drawingml/2006/main">
              <a:ext uri="{FF2B5EF4-FFF2-40B4-BE49-F238E27FC236}">
                <a16:creationId xmlns:a16="http://schemas.microsoft.com/office/drawing/2014/main" id="{DAE63A0C-288D-4D30-8A83-20A40D7BB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924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Check blur, brightness, resolution, and file readability.</a:t>
            </a:r>
          </a:p>
        </p:txBody>
      </p:sp>
      <p:sp>
        <p:nvSpPr>
          <p:cNvPr id="27" name="intro-reject">
            <a:extLst xmlns:a="http://schemas.openxmlformats.org/drawingml/2006/main">
              <a:ext uri="{FF2B5EF4-FFF2-40B4-BE49-F238E27FC236}">
                <a16:creationId xmlns:a16="http://schemas.microsoft.com/office/drawing/2014/main" id="{BD5A35B8-6DA1-4A18-B98F-F485CC8A3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Reject</a:t>
            </a:r>
          </a:p>
        </p:txBody>
      </p:sp>
      <p:sp>
        <p:nvSpPr>
          <p:cNvPr id="28" name="intro-reject-body">
            <a:extLst xmlns:a="http://schemas.openxmlformats.org/drawingml/2006/main">
              <a:ext uri="{FF2B5EF4-FFF2-40B4-BE49-F238E27FC236}">
                <a16:creationId xmlns:a16="http://schemas.microsoft.com/office/drawing/2014/main" id="{B4D12E3E-D663-4EC3-A351-90ED0A8A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924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Use skin-color, entropy, and document-like safeguards.</a:t>
            </a:r>
          </a:p>
        </p:txBody>
      </p:sp>
      <p:sp>
        <p:nvSpPr>
          <p:cNvPr id="29" name="intro-classify">
            <a:extLst xmlns:a="http://schemas.openxmlformats.org/drawingml/2006/main">
              <a:ext uri="{FF2B5EF4-FFF2-40B4-BE49-F238E27FC236}">
                <a16:creationId xmlns:a16="http://schemas.microsoft.com/office/drawing/2014/main" id="{A5D57B0A-E97F-42AE-B39C-3A9DDFD8A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Classify</a:t>
            </a:r>
          </a:p>
        </p:txBody>
      </p:sp>
      <p:sp>
        <p:nvSpPr>
          <p:cNvPr id="30" name="intro-classify-body">
            <a:extLst xmlns:a="http://schemas.openxmlformats.org/drawingml/2006/main">
              <a:ext uri="{FF2B5EF4-FFF2-40B4-BE49-F238E27FC236}">
                <a16:creationId xmlns:a16="http://schemas.microsoft.com/office/drawing/2014/main" id="{15BCDEAB-7E8E-4DDB-8E32-73066640E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924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Run the supported local model and expose top predictions.</a:t>
            </a:r>
          </a:p>
        </p:txBody>
      </p:sp>
      <p:sp>
        <p:nvSpPr>
          <p:cNvPr id="31" name="intro-report">
            <a:extLst xmlns:a="http://schemas.openxmlformats.org/drawingml/2006/main">
              <a:ext uri="{FF2B5EF4-FFF2-40B4-BE49-F238E27FC236}">
                <a16:creationId xmlns:a16="http://schemas.microsoft.com/office/drawing/2014/main" id="{37C63A28-FABB-408F-B878-DB9F62626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3D8DFF"/>
                </a:solidFill>
              </a:defRPr>
            </a:pPr>
            <a:r>
              <a:rPr sz="1350" b="1">
                <a:solidFill>
                  <a:srgbClr val="3D8DFF"/>
                </a:solidFill>
              </a:rPr>
              <a:t>Report</a:t>
            </a:r>
          </a:p>
        </p:txBody>
      </p:sp>
      <p:sp>
        <p:nvSpPr>
          <p:cNvPr id="32" name="intro-report-body">
            <a:extLst xmlns:a="http://schemas.openxmlformats.org/drawingml/2006/main">
              <a:ext uri="{FF2B5EF4-FFF2-40B4-BE49-F238E27FC236}">
                <a16:creationId xmlns:a16="http://schemas.microsoft.com/office/drawing/2014/main" id="{C80D47E3-FC7B-4B73-8AC1-B44359D1D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39243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Return JSON and generate a PDF summary.</a:t>
            </a:r>
          </a:p>
        </p:txBody>
      </p:sp>
    </p:spTree>
    <p:extLst>
      <p:ext uri="{BB962C8B-B14F-4D97-AF65-F5344CB8AC3E}">
        <p14:creationId xmlns:p14="http://schemas.microsoft.com/office/powerpoint/2010/main" val="157263725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kicker-7">
            <a:extLst xmlns:a="http://schemas.openxmlformats.org/drawingml/2006/main">
              <a:ext uri="{FF2B5EF4-FFF2-40B4-BE49-F238E27FC236}">
                <a16:creationId xmlns:a16="http://schemas.microsoft.com/office/drawing/2014/main" id="{2750B107-F81F-4F29-9640-8B22ACA7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PROPOSED BLOCK DIAGRAM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FD5E61AF-1169-4A85-A8F0-6C92BE58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hardware, web service, model, and report form one closed loop</a:t>
            </a:r>
          </a:p>
        </p:txBody>
      </p:sp>
      <p:sp>
        <p:nvSpPr>
          <p:cNvPr id="3" name="header-rule-7">
            <a:extLst xmlns:a="http://schemas.openxmlformats.org/drawingml/2006/main">
              <a:ext uri="{FF2B5EF4-FFF2-40B4-BE49-F238E27FC236}">
                <a16:creationId xmlns:a16="http://schemas.microsoft.com/office/drawing/2014/main" id="{7C57AD04-B01A-4338-8220-DAE4E714C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7">
            <a:extLst xmlns:a="http://schemas.openxmlformats.org/drawingml/2006/main">
              <a:ext uri="{FF2B5EF4-FFF2-40B4-BE49-F238E27FC236}">
                <a16:creationId xmlns:a16="http://schemas.microsoft.com/office/drawing/2014/main" id="{60100DFD-8A19-46A0-B40A-A25ACCA7A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07</a:t>
            </a:r>
          </a:p>
        </p:txBody>
      </p:sp>
      <p:sp>
        <p:nvSpPr>
          <p:cNvPr id="5" name="bd-line-1">
            <a:extLst xmlns:a="http://schemas.openxmlformats.org/drawingml/2006/main">
              <a:ext uri="{FF2B5EF4-FFF2-40B4-BE49-F238E27FC236}">
                <a16:creationId xmlns:a16="http://schemas.microsoft.com/office/drawing/2014/main" id="{8E2A87A2-9003-4599-8F7B-D438E45DB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857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6" name="bd-line-2">
            <a:extLst xmlns:a="http://schemas.openxmlformats.org/drawingml/2006/main">
              <a:ext uri="{FF2B5EF4-FFF2-40B4-BE49-F238E27FC236}">
                <a16:creationId xmlns:a16="http://schemas.microsoft.com/office/drawing/2014/main" id="{74172C42-9066-4D4F-AF24-24269C69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57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7" name="bd-line-3">
            <a:extLst xmlns:a="http://schemas.openxmlformats.org/drawingml/2006/main">
              <a:ext uri="{FF2B5EF4-FFF2-40B4-BE49-F238E27FC236}">
                <a16:creationId xmlns:a16="http://schemas.microsoft.com/office/drawing/2014/main" id="{5D2FA569-7F34-424F-86D7-365ADFB23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2857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8" name="bd-line-4">
            <a:extLst xmlns:a="http://schemas.openxmlformats.org/drawingml/2006/main">
              <a:ext uri="{FF2B5EF4-FFF2-40B4-BE49-F238E27FC236}">
                <a16:creationId xmlns:a16="http://schemas.microsoft.com/office/drawing/2014/main" id="{B24A36C9-6583-4A70-81DA-0E8651E18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857500"/>
            <a:ext cx="590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3D8DFF"/>
            </a:solidFill>
            <a:prstDash val="solid"/>
          </a:ln>
        </p:spPr>
      </p:sp>
      <p:sp>
        <p:nvSpPr>
          <p:cNvPr id="9" name="bd-node-0">
            <a:extLst xmlns:a="http://schemas.openxmlformats.org/drawingml/2006/main">
              <a:ext uri="{FF2B5EF4-FFF2-40B4-BE49-F238E27FC236}">
                <a16:creationId xmlns:a16="http://schemas.microsoft.com/office/drawing/2014/main" id="{6749B257-498F-4508-8D75-3BA17EB1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24100"/>
            <a:ext cx="1619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10" name="bd-label-0">
            <a:extLst xmlns:a="http://schemas.openxmlformats.org/drawingml/2006/main">
              <a:ext uri="{FF2B5EF4-FFF2-40B4-BE49-F238E27FC236}">
                <a16:creationId xmlns:a16="http://schemas.microsoft.com/office/drawing/2014/main" id="{C0A30570-911F-4D2A-B89A-72B071509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6193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Camera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(Raspberry Pi)</a:t>
            </a:r>
          </a:p>
        </p:txBody>
      </p:sp>
      <p:sp>
        <p:nvSpPr>
          <p:cNvPr id="11" name="bd-node-1">
            <a:extLst xmlns:a="http://schemas.openxmlformats.org/drawingml/2006/main">
              <a:ext uri="{FF2B5EF4-FFF2-40B4-BE49-F238E27FC236}">
                <a16:creationId xmlns:a16="http://schemas.microsoft.com/office/drawing/2014/main" id="{0140B209-DF93-4704-93FF-F17F2162E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24100"/>
            <a:ext cx="1619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bd-label-1">
            <a:extLst xmlns:a="http://schemas.openxmlformats.org/drawingml/2006/main">
              <a:ext uri="{FF2B5EF4-FFF2-40B4-BE49-F238E27FC236}">
                <a16:creationId xmlns:a16="http://schemas.microsoft.com/office/drawing/2014/main" id="{632AB7CE-8ECC-4E0B-8DD1-FD7A80A67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6193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Flask API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/api/predict</a:t>
            </a:r>
          </a:p>
        </p:txBody>
      </p:sp>
      <p:sp>
        <p:nvSpPr>
          <p:cNvPr id="13" name="bd-node-2">
            <a:extLst xmlns:a="http://schemas.openxmlformats.org/drawingml/2006/main">
              <a:ext uri="{FF2B5EF4-FFF2-40B4-BE49-F238E27FC236}">
                <a16:creationId xmlns:a16="http://schemas.microsoft.com/office/drawing/2014/main" id="{59646772-040A-4179-A332-14AECB7C8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324100"/>
            <a:ext cx="1619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9525">
            <a:solidFill>
              <a:srgbClr val="42B883"/>
            </a:solidFill>
            <a:prstDash val="solid"/>
          </a:ln>
        </p:spPr>
      </p:sp>
      <p:sp>
        <p:nvSpPr>
          <p:cNvPr id="14" name="bd-label-2">
            <a:extLst xmlns:a="http://schemas.openxmlformats.org/drawingml/2006/main">
              <a:ext uri="{FF2B5EF4-FFF2-40B4-BE49-F238E27FC236}">
                <a16:creationId xmlns:a16="http://schemas.microsoft.com/office/drawing/2014/main" id="{C685184B-2282-4A72-8C07-7F87CCCDC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6193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Image quality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+ skin gate</a:t>
            </a:r>
          </a:p>
        </p:txBody>
      </p:sp>
      <p:sp>
        <p:nvSpPr>
          <p:cNvPr id="15" name="bd-node-3">
            <a:extLst xmlns:a="http://schemas.openxmlformats.org/drawingml/2006/main">
              <a:ext uri="{FF2B5EF4-FFF2-40B4-BE49-F238E27FC236}">
                <a16:creationId xmlns:a16="http://schemas.microsoft.com/office/drawing/2014/main" id="{62466F5F-F725-457F-BE73-6B8BA2182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324100"/>
            <a:ext cx="1619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F28C5B"/>
          </a:solidFill>
          <a:ln xmlns:a="http://schemas.openxmlformats.org/drawingml/2006/main" w="9525">
            <a:solidFill>
              <a:srgbClr val="F28C5B"/>
            </a:solidFill>
            <a:prstDash val="solid"/>
          </a:ln>
        </p:spPr>
      </p:sp>
      <p:sp>
        <p:nvSpPr>
          <p:cNvPr id="16" name="bd-label-3">
            <a:extLst xmlns:a="http://schemas.openxmlformats.org/drawingml/2006/main">
              <a:ext uri="{FF2B5EF4-FFF2-40B4-BE49-F238E27FC236}">
                <a16:creationId xmlns:a16="http://schemas.microsoft.com/office/drawing/2014/main" id="{6C2D1CE2-B937-4F5C-81C0-6A4466690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6193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TFLite disease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classifier</a:t>
            </a:r>
          </a:p>
        </p:txBody>
      </p:sp>
      <p:sp>
        <p:nvSpPr>
          <p:cNvPr id="17" name="bd-node-4">
            <a:extLst xmlns:a="http://schemas.openxmlformats.org/drawingml/2006/main">
              <a:ext uri="{FF2B5EF4-FFF2-40B4-BE49-F238E27FC236}">
                <a16:creationId xmlns:a16="http://schemas.microsoft.com/office/drawing/2014/main" id="{A774EDBB-F096-4F9A-A130-004E9FFBD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324100"/>
            <a:ext cx="1619250" cy="1066800"/>
          </a:xfrm>
          <a:prstGeom xmlns:a="http://schemas.openxmlformats.org/drawingml/2006/main" prst="roundRect">
            <a:avLst>
              <a:gd name="adj" fmla="val 16071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18" name="bd-label-4">
            <a:extLst xmlns:a="http://schemas.openxmlformats.org/drawingml/2006/main">
              <a:ext uri="{FF2B5EF4-FFF2-40B4-BE49-F238E27FC236}">
                <a16:creationId xmlns:a16="http://schemas.microsoft.com/office/drawing/2014/main" id="{9BC54826-A4B2-4E11-9EDA-A4ECDFB36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19375"/>
            <a:ext cx="1352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JSON + PDF</a:t>
            </a:r>
          </a:p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report</a:t>
            </a:r>
          </a:p>
        </p:txBody>
      </p:sp>
      <p:sp>
        <p:nvSpPr>
          <p:cNvPr id="19" name="bd-arrow-0">
            <a:extLst xmlns:a="http://schemas.openxmlformats.org/drawingml/2006/main">
              <a:ext uri="{FF2B5EF4-FFF2-40B4-BE49-F238E27FC236}">
                <a16:creationId xmlns:a16="http://schemas.microsoft.com/office/drawing/2014/main" id="{5094C01D-D4EC-41D8-8C82-B24A1B6B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26289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0" name="bd-arrow-1">
            <a:extLst xmlns:a="http://schemas.openxmlformats.org/drawingml/2006/main">
              <a:ext uri="{FF2B5EF4-FFF2-40B4-BE49-F238E27FC236}">
                <a16:creationId xmlns:a16="http://schemas.microsoft.com/office/drawing/2014/main" id="{12962DC1-D53E-4A0F-B5FC-A78BD0CC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6289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1" name="bd-arrow-2">
            <a:extLst xmlns:a="http://schemas.openxmlformats.org/drawingml/2006/main">
              <a:ext uri="{FF2B5EF4-FFF2-40B4-BE49-F238E27FC236}">
                <a16:creationId xmlns:a16="http://schemas.microsoft.com/office/drawing/2014/main" id="{C3F88C69-36DB-4DE2-B879-D841D5F22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53225" y="26289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2" name="bd-arrow-3">
            <a:extLst xmlns:a="http://schemas.openxmlformats.org/drawingml/2006/main">
              <a:ext uri="{FF2B5EF4-FFF2-40B4-BE49-F238E27FC236}">
                <a16:creationId xmlns:a16="http://schemas.microsoft.com/office/drawing/2014/main" id="{2CD63E9F-5C45-487C-A899-5B0B11C9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3025" y="2628900"/>
            <a:ext cx="285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3D8DFF"/>
                </a:solidFill>
              </a:defRPr>
            </a:pPr>
            <a:r>
              <a:rPr sz="19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3" name="bd-loop">
            <a:extLst xmlns:a="http://schemas.openxmlformats.org/drawingml/2006/main">
              <a:ext uri="{FF2B5EF4-FFF2-40B4-BE49-F238E27FC236}">
                <a16:creationId xmlns:a16="http://schemas.microsoft.com/office/drawing/2014/main" id="{D9ED9CBB-00FA-43FE-8DCF-630210253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629150"/>
            <a:ext cx="8572500" cy="876300"/>
          </a:xfrm>
          <a:prstGeom xmlns:a="http://schemas.openxmlformats.org/drawingml/2006/main" prst="roundRect">
            <a:avLst>
              <a:gd name="adj" fmla="val 19565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24" name="bd-loop-title">
            <a:extLst xmlns:a="http://schemas.openxmlformats.org/drawingml/2006/main">
              <a:ext uri="{FF2B5EF4-FFF2-40B4-BE49-F238E27FC236}">
                <a16:creationId xmlns:a16="http://schemas.microsoft.com/office/drawing/2014/main" id="{428A64C0-EB25-4931-BBDC-C56B157D5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4857750"/>
            <a:ext cx="152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Control loop</a:t>
            </a:r>
          </a:p>
        </p:txBody>
      </p:sp>
      <p:sp>
        <p:nvSpPr>
          <p:cNvPr id="25" name="bd-loop-body">
            <a:extLst xmlns:a="http://schemas.openxmlformats.org/drawingml/2006/main">
              <a:ext uri="{FF2B5EF4-FFF2-40B4-BE49-F238E27FC236}">
                <a16:creationId xmlns:a16="http://schemas.microsoft.com/office/drawing/2014/main" id="{41BC8164-D103-453C-8EFE-D2DB87B4E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8577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The user receives a result, improves the image if needed, and can capture again without changing the model.</a:t>
            </a:r>
          </a:p>
        </p:txBody>
      </p:sp>
    </p:spTree>
    <p:extLst>
      <p:ext uri="{BB962C8B-B14F-4D97-AF65-F5344CB8AC3E}">
        <p14:creationId xmlns:p14="http://schemas.microsoft.com/office/powerpoint/2010/main" val="6534510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8">
            <a:extLst xmlns:a="http://schemas.openxmlformats.org/drawingml/2006/main">
              <a:ext uri="{FF2B5EF4-FFF2-40B4-BE49-F238E27FC236}">
                <a16:creationId xmlns:a16="http://schemas.microsoft.com/office/drawing/2014/main" id="{53445BF8-4729-4394-82A3-73BD029A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ALGORITHM / FLOWCHART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3F0C8714-2F29-4902-B0BA-CB8139AF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Every image follows the same decision sequence</a:t>
            </a:r>
          </a:p>
        </p:txBody>
      </p:sp>
      <p:sp>
        <p:nvSpPr>
          <p:cNvPr id="3" name="header-rule-8">
            <a:extLst xmlns:a="http://schemas.openxmlformats.org/drawingml/2006/main">
              <a:ext uri="{FF2B5EF4-FFF2-40B4-BE49-F238E27FC236}">
                <a16:creationId xmlns:a16="http://schemas.microsoft.com/office/drawing/2014/main" id="{9835C10E-3253-4EAA-8DAE-0BADBB4A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8">
            <a:extLst xmlns:a="http://schemas.openxmlformats.org/drawingml/2006/main">
              <a:ext uri="{FF2B5EF4-FFF2-40B4-BE49-F238E27FC236}">
                <a16:creationId xmlns:a16="http://schemas.microsoft.com/office/drawing/2014/main" id="{67288AB2-D517-48FF-A517-E98FB5C2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08</a:t>
            </a:r>
          </a:p>
        </p:txBody>
      </p:sp>
      <p:sp>
        <p:nvSpPr>
          <p:cNvPr id="5" name="algo-number-0">
            <a:extLst xmlns:a="http://schemas.openxmlformats.org/drawingml/2006/main">
              <a:ext uri="{FF2B5EF4-FFF2-40B4-BE49-F238E27FC236}">
                <a16:creationId xmlns:a16="http://schemas.microsoft.com/office/drawing/2014/main" id="{C3D92B36-08D3-44A0-9879-DD5238E54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6573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6" name="algo-number-text-0">
            <a:extLst xmlns:a="http://schemas.openxmlformats.org/drawingml/2006/main">
              <a:ext uri="{FF2B5EF4-FFF2-40B4-BE49-F238E27FC236}">
                <a16:creationId xmlns:a16="http://schemas.microsoft.com/office/drawing/2014/main" id="{ED8F9C36-C79D-4CB6-A594-1CE2077D4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17526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algo-label-0">
            <a:extLst xmlns:a="http://schemas.openxmlformats.org/drawingml/2006/main">
              <a:ext uri="{FF2B5EF4-FFF2-40B4-BE49-F238E27FC236}">
                <a16:creationId xmlns:a16="http://schemas.microsoft.com/office/drawing/2014/main" id="{E62E21B4-4D5E-4014-907C-80647B7B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17335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Receive image</a:t>
            </a:r>
          </a:p>
        </p:txBody>
      </p:sp>
      <p:sp>
        <p:nvSpPr>
          <p:cNvPr id="8" name="algo-line-0">
            <a:extLst xmlns:a="http://schemas.openxmlformats.org/drawingml/2006/main">
              <a:ext uri="{FF2B5EF4-FFF2-40B4-BE49-F238E27FC236}">
                <a16:creationId xmlns:a16="http://schemas.microsoft.com/office/drawing/2014/main" id="{A6F28CED-6D50-4083-85E4-981192D98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1526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9" name="algo-number-1">
            <a:extLst xmlns:a="http://schemas.openxmlformats.org/drawingml/2006/main">
              <a:ext uri="{FF2B5EF4-FFF2-40B4-BE49-F238E27FC236}">
                <a16:creationId xmlns:a16="http://schemas.microsoft.com/office/drawing/2014/main" id="{F5478152-2839-4552-A879-16307D78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812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0" name="algo-number-text-1">
            <a:extLst xmlns:a="http://schemas.openxmlformats.org/drawingml/2006/main">
              <a:ext uri="{FF2B5EF4-FFF2-40B4-BE49-F238E27FC236}">
                <a16:creationId xmlns:a16="http://schemas.microsoft.com/office/drawing/2014/main" id="{8A4C1BD0-EE20-42E7-BD6B-DB5352276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765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algo-label-1">
            <a:extLst xmlns:a="http://schemas.openxmlformats.org/drawingml/2006/main">
              <a:ext uri="{FF2B5EF4-FFF2-40B4-BE49-F238E27FC236}">
                <a16:creationId xmlns:a16="http://schemas.microsoft.com/office/drawing/2014/main" id="{E3566D00-4586-4EA3-A352-FC2BF4D4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4574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Read + resize</a:t>
            </a:r>
          </a:p>
        </p:txBody>
      </p:sp>
      <p:sp>
        <p:nvSpPr>
          <p:cNvPr id="12" name="algo-line-1">
            <a:extLst xmlns:a="http://schemas.openxmlformats.org/drawingml/2006/main">
              <a:ext uri="{FF2B5EF4-FFF2-40B4-BE49-F238E27FC236}">
                <a16:creationId xmlns:a16="http://schemas.microsoft.com/office/drawing/2014/main" id="{190F85C5-5617-4F61-9E74-BD6ED1842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28765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3" name="algo-number-2">
            <a:extLst xmlns:a="http://schemas.openxmlformats.org/drawingml/2006/main">
              <a:ext uri="{FF2B5EF4-FFF2-40B4-BE49-F238E27FC236}">
                <a16:creationId xmlns:a16="http://schemas.microsoft.com/office/drawing/2014/main" id="{9BD20BB1-09E7-4726-BCA0-1536987F3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1051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9525">
            <a:solidFill>
              <a:srgbClr val="42B883"/>
            </a:solidFill>
            <a:prstDash val="solid"/>
          </a:ln>
        </p:spPr>
      </p:sp>
      <p:sp>
        <p:nvSpPr>
          <p:cNvPr id="14" name="algo-number-text-2">
            <a:extLst xmlns:a="http://schemas.openxmlformats.org/drawingml/2006/main">
              <a:ext uri="{FF2B5EF4-FFF2-40B4-BE49-F238E27FC236}">
                <a16:creationId xmlns:a16="http://schemas.microsoft.com/office/drawing/2014/main" id="{6D2A5529-D541-4E6F-AC00-A4E7F2C8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2004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algo-label-2">
            <a:extLst xmlns:a="http://schemas.openxmlformats.org/drawingml/2006/main">
              <a:ext uri="{FF2B5EF4-FFF2-40B4-BE49-F238E27FC236}">
                <a16:creationId xmlns:a16="http://schemas.microsoft.com/office/drawing/2014/main" id="{37A24A0E-27F4-40F0-98F8-E534CE4C7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1813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Quality check</a:t>
            </a:r>
          </a:p>
        </p:txBody>
      </p:sp>
      <p:sp>
        <p:nvSpPr>
          <p:cNvPr id="16" name="algo-line-2">
            <a:extLst xmlns:a="http://schemas.openxmlformats.org/drawingml/2006/main">
              <a:ext uri="{FF2B5EF4-FFF2-40B4-BE49-F238E27FC236}">
                <a16:creationId xmlns:a16="http://schemas.microsoft.com/office/drawing/2014/main" id="{F8743764-067C-4B24-BE1F-4AFCAFB4D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36004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7" name="algo-number-3">
            <a:extLst xmlns:a="http://schemas.openxmlformats.org/drawingml/2006/main">
              <a:ext uri="{FF2B5EF4-FFF2-40B4-BE49-F238E27FC236}">
                <a16:creationId xmlns:a16="http://schemas.microsoft.com/office/drawing/2014/main" id="{824EB14C-FA42-448D-8BAF-FC6F2375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290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B"/>
          </a:solidFill>
          <a:ln xmlns:a="http://schemas.openxmlformats.org/drawingml/2006/main" w="9525">
            <a:solidFill>
              <a:srgbClr val="F28C5B"/>
            </a:solidFill>
            <a:prstDash val="solid"/>
          </a:ln>
        </p:spPr>
      </p:sp>
      <p:sp>
        <p:nvSpPr>
          <p:cNvPr id="18" name="algo-number-text-3">
            <a:extLst xmlns:a="http://schemas.openxmlformats.org/drawingml/2006/main">
              <a:ext uri="{FF2B5EF4-FFF2-40B4-BE49-F238E27FC236}">
                <a16:creationId xmlns:a16="http://schemas.microsoft.com/office/drawing/2014/main" id="{D4E0119E-55D9-4E35-86DB-AC8B459E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9243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algo-label-3">
            <a:extLst xmlns:a="http://schemas.openxmlformats.org/drawingml/2006/main">
              <a:ext uri="{FF2B5EF4-FFF2-40B4-BE49-F238E27FC236}">
                <a16:creationId xmlns:a16="http://schemas.microsoft.com/office/drawing/2014/main" id="{ED4F1488-E60A-475B-8F60-A8872B527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39052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Skin / non-skin gate</a:t>
            </a:r>
          </a:p>
        </p:txBody>
      </p:sp>
      <p:sp>
        <p:nvSpPr>
          <p:cNvPr id="20" name="algo-line-3">
            <a:extLst xmlns:a="http://schemas.openxmlformats.org/drawingml/2006/main">
              <a:ext uri="{FF2B5EF4-FFF2-40B4-BE49-F238E27FC236}">
                <a16:creationId xmlns:a16="http://schemas.microsoft.com/office/drawing/2014/main" id="{5ADF9CFA-18A0-44DC-B4C6-1BBB89EF9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43243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1" name="algo-number-4">
            <a:extLst xmlns:a="http://schemas.openxmlformats.org/drawingml/2006/main">
              <a:ext uri="{FF2B5EF4-FFF2-40B4-BE49-F238E27FC236}">
                <a16:creationId xmlns:a16="http://schemas.microsoft.com/office/drawing/2014/main" id="{E165891C-20AB-4B29-8549-B585927CD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5529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algo-number-text-4">
            <a:extLst xmlns:a="http://schemas.openxmlformats.org/drawingml/2006/main">
              <a:ext uri="{FF2B5EF4-FFF2-40B4-BE49-F238E27FC236}">
                <a16:creationId xmlns:a16="http://schemas.microsoft.com/office/drawing/2014/main" id="{F33BEEC2-EAF1-40CE-837B-E19A3944F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482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3" name="algo-label-4">
            <a:extLst xmlns:a="http://schemas.openxmlformats.org/drawingml/2006/main">
              <a:ext uri="{FF2B5EF4-FFF2-40B4-BE49-F238E27FC236}">
                <a16:creationId xmlns:a16="http://schemas.microsoft.com/office/drawing/2014/main" id="{CEE39E1D-657A-478A-8751-F641C08FD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6291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Model inference</a:t>
            </a:r>
          </a:p>
        </p:txBody>
      </p:sp>
      <p:sp>
        <p:nvSpPr>
          <p:cNvPr id="24" name="algo-line-4">
            <a:extLst xmlns:a="http://schemas.openxmlformats.org/drawingml/2006/main">
              <a:ext uri="{FF2B5EF4-FFF2-40B4-BE49-F238E27FC236}">
                <a16:creationId xmlns:a16="http://schemas.microsoft.com/office/drawing/2014/main" id="{EAC0CE6E-5499-4F82-9BF5-7F90F3BA3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8275" y="5048250"/>
            <a:ext cx="0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5" name="algo-number-5">
            <a:extLst xmlns:a="http://schemas.openxmlformats.org/drawingml/2006/main">
              <a:ext uri="{FF2B5EF4-FFF2-40B4-BE49-F238E27FC236}">
                <a16:creationId xmlns:a16="http://schemas.microsoft.com/office/drawing/2014/main" id="{5BF23C82-BA1A-4EBD-84CA-7A42AC2BA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276850"/>
            <a:ext cx="628650" cy="495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26" name="algo-number-text-5">
            <a:extLst xmlns:a="http://schemas.openxmlformats.org/drawingml/2006/main">
              <a:ext uri="{FF2B5EF4-FFF2-40B4-BE49-F238E27FC236}">
                <a16:creationId xmlns:a16="http://schemas.microsoft.com/office/drawing/2014/main" id="{26F04D71-E7FD-4665-8D3D-6BC2E0977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72100"/>
            <a:ext cx="6286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6</a:t>
            </a:r>
          </a:p>
        </p:txBody>
      </p:sp>
      <p:sp>
        <p:nvSpPr>
          <p:cNvPr id="27" name="algo-label-5">
            <a:extLst xmlns:a="http://schemas.openxmlformats.org/drawingml/2006/main">
              <a:ext uri="{FF2B5EF4-FFF2-40B4-BE49-F238E27FC236}">
                <a16:creationId xmlns:a16="http://schemas.microsoft.com/office/drawing/2014/main" id="{D45CEB52-BDE7-45CB-96FC-A0408AA3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53050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Report result</a:t>
            </a:r>
          </a:p>
        </p:txBody>
      </p:sp>
      <p:sp>
        <p:nvSpPr>
          <p:cNvPr id="28" name="algo-code">
            <a:extLst xmlns:a="http://schemas.openxmlformats.org/drawingml/2006/main">
              <a:ext uri="{FF2B5EF4-FFF2-40B4-BE49-F238E27FC236}">
                <a16:creationId xmlns:a16="http://schemas.microsoft.com/office/drawing/2014/main" id="{41C0723C-BFAC-4903-824D-FF0C38070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52600"/>
            <a:ext cx="4572000" cy="3467100"/>
          </a:xfrm>
          <a:prstGeom xmlns:a="http://schemas.openxmlformats.org/drawingml/2006/main" prst="roundRect">
            <a:avLst>
              <a:gd name="adj" fmla="val 549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algo-code-title">
            <a:extLst xmlns:a="http://schemas.openxmlformats.org/drawingml/2006/main">
              <a:ext uri="{FF2B5EF4-FFF2-40B4-BE49-F238E27FC236}">
                <a16:creationId xmlns:a16="http://schemas.microsoft.com/office/drawing/2014/main" id="{EDD28D5F-AF6B-4D03-9C00-BEFE7E1AE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28B8D7"/>
                </a:solidFill>
              </a:defRPr>
            </a:pPr>
            <a:r>
              <a:rPr sz="1800" b="1">
                <a:solidFill>
                  <a:srgbClr val="28B8D7"/>
                </a:solidFill>
              </a:rPr>
              <a:t>Decision logic</a:t>
            </a:r>
          </a:p>
        </p:txBody>
      </p:sp>
      <p:sp>
        <p:nvSpPr>
          <p:cNvPr id="30" name="algo-code-body">
            <a:extLst xmlns:a="http://schemas.openxmlformats.org/drawingml/2006/main">
              <a:ext uri="{FF2B5EF4-FFF2-40B4-BE49-F238E27FC236}">
                <a16:creationId xmlns:a16="http://schemas.microsoft.com/office/drawing/2014/main" id="{62D859BD-AE48-4709-BB83-95805DE2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667000"/>
            <a:ext cx="371475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if image_invalid: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 request_clearer_photo()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elif non_skin_detected: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 reject_input()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elif confidence_low: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 return_uncertain()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else: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500">
                <a:solidFill>
                  <a:srgbClr val="FFFFFF"/>
                </a:solidFill>
              </a:defRPr>
            </a:pPr>
            <a:r>
              <a:rPr sz="1500">
                <a:solidFill>
                  <a:srgbClr val="FFFFFF"/>
                </a:solidFill>
              </a:rPr>
              <a:t>    return_prediction_and_report()</a:t>
            </a:r>
          </a:p>
        </p:txBody>
      </p:sp>
    </p:spTree>
    <p:extLst>
      <p:ext uri="{BB962C8B-B14F-4D97-AF65-F5344CB8AC3E}">
        <p14:creationId xmlns:p14="http://schemas.microsoft.com/office/powerpoint/2010/main" val="187154487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kicker-9">
            <a:extLst xmlns:a="http://schemas.openxmlformats.org/drawingml/2006/main">
              <a:ext uri="{FF2B5EF4-FFF2-40B4-BE49-F238E27FC236}">
                <a16:creationId xmlns:a16="http://schemas.microsoft.com/office/drawing/2014/main" id="{5FC52939-AFF5-41A6-9F27-F8E485748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SOFTWARE USED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81784CE2-4183-4CFB-95AD-E5C90F194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software stack keeps capture, inference, and reporting separate</a:t>
            </a:r>
          </a:p>
        </p:txBody>
      </p:sp>
      <p:sp>
        <p:nvSpPr>
          <p:cNvPr id="3" name="header-rule-9">
            <a:extLst xmlns:a="http://schemas.openxmlformats.org/drawingml/2006/main">
              <a:ext uri="{FF2B5EF4-FFF2-40B4-BE49-F238E27FC236}">
                <a16:creationId xmlns:a16="http://schemas.microsoft.com/office/drawing/2014/main" id="{CD3B2F44-6D22-4B39-9BE1-4625F3DFC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9">
            <a:extLst xmlns:a="http://schemas.openxmlformats.org/drawingml/2006/main">
              <a:ext uri="{FF2B5EF4-FFF2-40B4-BE49-F238E27FC236}">
                <a16:creationId xmlns:a16="http://schemas.microsoft.com/office/drawing/2014/main" id="{25A2B40A-65A4-4967-8A18-58FAD62CF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09</a:t>
            </a:r>
          </a:p>
        </p:txBody>
      </p:sp>
      <p:sp>
        <p:nvSpPr>
          <p:cNvPr id="5" name="soft-app">
            <a:extLst xmlns:a="http://schemas.openxmlformats.org/drawingml/2006/main">
              <a:ext uri="{FF2B5EF4-FFF2-40B4-BE49-F238E27FC236}">
                <a16:creationId xmlns:a16="http://schemas.microsoft.com/office/drawing/2014/main" id="{D389F9A6-6259-4C0C-96B2-75C7226CC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31432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soft-app-accent">
            <a:extLst xmlns:a="http://schemas.openxmlformats.org/drawingml/2006/main">
              <a:ext uri="{FF2B5EF4-FFF2-40B4-BE49-F238E27FC236}">
                <a16:creationId xmlns:a16="http://schemas.microsoft.com/office/drawing/2014/main" id="{3D02A423-6B93-4DBE-81B1-3C5714B34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335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oft-app-title">
            <a:extLst xmlns:a="http://schemas.openxmlformats.org/drawingml/2006/main">
              <a:ext uri="{FF2B5EF4-FFF2-40B4-BE49-F238E27FC236}">
                <a16:creationId xmlns:a16="http://schemas.microsoft.com/office/drawing/2014/main" id="{703405D1-647C-4FED-8DD2-41CE7BD22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Application</a:t>
            </a:r>
          </a:p>
        </p:txBody>
      </p:sp>
      <p:sp>
        <p:nvSpPr>
          <p:cNvPr id="8" name="soft-app-body">
            <a:extLst xmlns:a="http://schemas.openxmlformats.org/drawingml/2006/main">
              <a:ext uri="{FF2B5EF4-FFF2-40B4-BE49-F238E27FC236}">
                <a16:creationId xmlns:a16="http://schemas.microsoft.com/office/drawing/2014/main" id="{4FA46975-99C3-4B8A-A40B-935615809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860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Python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Flask API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Gradio interface</a:t>
            </a:r>
          </a:p>
        </p:txBody>
      </p:sp>
      <p:sp>
        <p:nvSpPr>
          <p:cNvPr id="9" name="soft-ai">
            <a:extLst xmlns:a="http://schemas.openxmlformats.org/drawingml/2006/main">
              <a:ext uri="{FF2B5EF4-FFF2-40B4-BE49-F238E27FC236}">
                <a16:creationId xmlns:a16="http://schemas.microsoft.com/office/drawing/2014/main" id="{7E5807F7-65EC-474C-A203-E42AD714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33550"/>
            <a:ext cx="31432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soft-ai-accent">
            <a:extLst xmlns:a="http://schemas.openxmlformats.org/drawingml/2006/main">
              <a:ext uri="{FF2B5EF4-FFF2-40B4-BE49-F238E27FC236}">
                <a16:creationId xmlns:a16="http://schemas.microsoft.com/office/drawing/2014/main" id="{97868408-EC5F-4C31-8B58-BA449BAB4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7335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oft-ai-title">
            <a:extLst xmlns:a="http://schemas.openxmlformats.org/drawingml/2006/main">
              <a:ext uri="{FF2B5EF4-FFF2-40B4-BE49-F238E27FC236}">
                <a16:creationId xmlns:a16="http://schemas.microsoft.com/office/drawing/2014/main" id="{86E7A0DF-31CC-4E39-9527-BB3E4BE06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AI / vision</a:t>
            </a:r>
          </a:p>
        </p:txBody>
      </p:sp>
      <p:sp>
        <p:nvSpPr>
          <p:cNvPr id="12" name="soft-ai-body">
            <a:extLst xmlns:a="http://schemas.openxmlformats.org/drawingml/2006/main">
              <a:ext uri="{FF2B5EF4-FFF2-40B4-BE49-F238E27FC236}">
                <a16:creationId xmlns:a16="http://schemas.microsoft.com/office/drawing/2014/main" id="{C4C84DEB-A245-4799-9CF8-25FD6E5F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2860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TensorFlow Lite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OpenCV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Pillow</a:t>
            </a:r>
          </a:p>
        </p:txBody>
      </p:sp>
      <p:sp>
        <p:nvSpPr>
          <p:cNvPr id="13" name="soft-output">
            <a:extLst xmlns:a="http://schemas.openxmlformats.org/drawingml/2006/main">
              <a:ext uri="{FF2B5EF4-FFF2-40B4-BE49-F238E27FC236}">
                <a16:creationId xmlns:a16="http://schemas.microsoft.com/office/drawing/2014/main" id="{AC2133C9-DC1D-40D6-96C5-CF1D09E7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3143250" cy="16192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soft-output-accent">
            <a:extLst xmlns:a="http://schemas.openxmlformats.org/drawingml/2006/main">
              <a:ext uri="{FF2B5EF4-FFF2-40B4-BE49-F238E27FC236}">
                <a16:creationId xmlns:a16="http://schemas.microsoft.com/office/drawing/2014/main" id="{E1F5447C-4A94-4FED-8637-09CB56D48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33550"/>
            <a:ext cx="66675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oft-output-title">
            <a:extLst xmlns:a="http://schemas.openxmlformats.org/drawingml/2006/main">
              <a:ext uri="{FF2B5EF4-FFF2-40B4-BE49-F238E27FC236}">
                <a16:creationId xmlns:a16="http://schemas.microsoft.com/office/drawing/2014/main" id="{F7DFDA82-2C94-4447-BF1D-A88F691AC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9240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Output</a:t>
            </a:r>
          </a:p>
        </p:txBody>
      </p:sp>
      <p:sp>
        <p:nvSpPr>
          <p:cNvPr id="16" name="soft-output-body">
            <a:extLst xmlns:a="http://schemas.openxmlformats.org/drawingml/2006/main">
              <a:ext uri="{FF2B5EF4-FFF2-40B4-BE49-F238E27FC236}">
                <a16:creationId xmlns:a16="http://schemas.microsoft.com/office/drawing/2014/main" id="{A9FC3D17-2B7D-40F7-B788-7448B273E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286000"/>
            <a:ext cx="27241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ReportLab PDF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JSON API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Render deployment</a:t>
            </a:r>
          </a:p>
        </p:txBody>
      </p:sp>
      <p:sp>
        <p:nvSpPr>
          <p:cNvPr id="17" name="soft-dev">
            <a:extLst xmlns:a="http://schemas.openxmlformats.org/drawingml/2006/main">
              <a:ext uri="{FF2B5EF4-FFF2-40B4-BE49-F238E27FC236}">
                <a16:creationId xmlns:a16="http://schemas.microsoft.com/office/drawing/2014/main" id="{73A15029-E326-4A96-BD39-B11021C02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10515600" cy="10668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soft-dev-title">
            <a:extLst xmlns:a="http://schemas.openxmlformats.org/drawingml/2006/main">
              <a:ext uri="{FF2B5EF4-FFF2-40B4-BE49-F238E27FC236}">
                <a16:creationId xmlns:a16="http://schemas.microsoft.com/office/drawing/2014/main" id="{4201E17E-C29A-4B83-9041-018DB76A0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257675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Development loop</a:t>
            </a:r>
          </a:p>
        </p:txBody>
      </p:sp>
      <p:sp>
        <p:nvSpPr>
          <p:cNvPr id="19" name="soft-dev-body">
            <a:extLst xmlns:a="http://schemas.openxmlformats.org/drawingml/2006/main">
              <a:ext uri="{FF2B5EF4-FFF2-40B4-BE49-F238E27FC236}">
                <a16:creationId xmlns:a16="http://schemas.microsoft.com/office/drawing/2014/main" id="{AD2A2332-B33B-4ADE-8766-967232A40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2910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10233D"/>
                </a:solidFill>
              </a:defRPr>
            </a:pPr>
            <a:r>
              <a:rPr sz="1725" b="1">
                <a:solidFill>
                  <a:srgbClr val="10233D"/>
                </a:solidFill>
              </a:rPr>
              <a:t>Build locally → test with known inputs → validate the API → deploy only after review</a:t>
            </a:r>
          </a:p>
        </p:txBody>
      </p:sp>
      <p:sp>
        <p:nvSpPr>
          <p:cNvPr id="20" name="soft-note">
            <a:extLst xmlns:a="http://schemas.openxmlformats.org/drawingml/2006/main">
              <a:ext uri="{FF2B5EF4-FFF2-40B4-BE49-F238E27FC236}">
                <a16:creationId xmlns:a16="http://schemas.microsoft.com/office/drawing/2014/main" id="{7986E420-5C0F-4E44-A19C-ACA6FE678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15000"/>
            <a:ext cx="1047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52657D"/>
                </a:solidFill>
              </a:defRPr>
            </a:pPr>
            <a:r>
              <a:rPr sz="1350">
                <a:solidFill>
                  <a:srgbClr val="52657D"/>
                </a:solidFill>
              </a:rPr>
              <a:t>Optional training tools: TensorFlow / PyTorch transfer learning, with the final runtime exported as a lightweight TFLite model.</a:t>
            </a:r>
          </a:p>
        </p:txBody>
      </p:sp>
    </p:spTree>
    <p:extLst>
      <p:ext uri="{BB962C8B-B14F-4D97-AF65-F5344CB8AC3E}">
        <p14:creationId xmlns:p14="http://schemas.microsoft.com/office/powerpoint/2010/main" val="3706933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kicker-10">
            <a:extLst xmlns:a="http://schemas.openxmlformats.org/drawingml/2006/main">
              <a:ext uri="{FF2B5EF4-FFF2-40B4-BE49-F238E27FC236}">
                <a16:creationId xmlns:a16="http://schemas.microsoft.com/office/drawing/2014/main" id="{C4F7FC24-5A00-4291-A0F4-6950091E7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HARDWARE USED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865D14CE-17A6-4C72-8143-B8AB1E01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Raspberry Pi can run headlessly with the phone as the display</a:t>
            </a:r>
          </a:p>
        </p:txBody>
      </p:sp>
      <p:sp>
        <p:nvSpPr>
          <p:cNvPr id="3" name="header-rule-10">
            <a:extLst xmlns:a="http://schemas.openxmlformats.org/drawingml/2006/main">
              <a:ext uri="{FF2B5EF4-FFF2-40B4-BE49-F238E27FC236}">
                <a16:creationId xmlns:a16="http://schemas.microsoft.com/office/drawing/2014/main" id="{00E19714-4695-4535-94CA-55DCC9804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0">
            <a:extLst xmlns:a="http://schemas.openxmlformats.org/drawingml/2006/main">
              <a:ext uri="{FF2B5EF4-FFF2-40B4-BE49-F238E27FC236}">
                <a16:creationId xmlns:a16="http://schemas.microsoft.com/office/drawing/2014/main" id="{FEFA7896-AD52-4710-99C9-9E2069A3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10</a:t>
            </a:r>
          </a:p>
        </p:txBody>
      </p:sp>
      <p:sp>
        <p:nvSpPr>
          <p:cNvPr id="5" name="hw-0">
            <a:extLst xmlns:a="http://schemas.openxmlformats.org/drawingml/2006/main">
              <a:ext uri="{FF2B5EF4-FFF2-40B4-BE49-F238E27FC236}">
                <a16:creationId xmlns:a16="http://schemas.microsoft.com/office/drawing/2014/main" id="{1CFD61AF-7CA0-472D-89C0-53F58C06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hw-0-accent">
            <a:extLst xmlns:a="http://schemas.openxmlformats.org/drawingml/2006/main">
              <a:ext uri="{FF2B5EF4-FFF2-40B4-BE49-F238E27FC236}">
                <a16:creationId xmlns:a16="http://schemas.microsoft.com/office/drawing/2014/main" id="{86653D24-010C-49EF-A7E2-C2881136D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714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hw-0-title">
            <a:extLst xmlns:a="http://schemas.openxmlformats.org/drawingml/2006/main">
              <a:ext uri="{FF2B5EF4-FFF2-40B4-BE49-F238E27FC236}">
                <a16:creationId xmlns:a16="http://schemas.microsoft.com/office/drawing/2014/main" id="{EEEC46B7-A130-419D-99B5-3847677A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905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Raspberry Pi</a:t>
            </a:r>
          </a:p>
        </p:txBody>
      </p:sp>
      <p:sp>
        <p:nvSpPr>
          <p:cNvPr id="8" name="hw-0-body">
            <a:extLst xmlns:a="http://schemas.openxmlformats.org/drawingml/2006/main">
              <a:ext uri="{FF2B5EF4-FFF2-40B4-BE49-F238E27FC236}">
                <a16:creationId xmlns:a16="http://schemas.microsoft.com/office/drawing/2014/main" id="{DFE441E5-DF0A-4EC6-B499-4BB992F50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266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Zero 2 W, Pi 4, or Pi 5</a:t>
            </a:r>
          </a:p>
        </p:txBody>
      </p:sp>
      <p:sp>
        <p:nvSpPr>
          <p:cNvPr id="9" name="hw-1">
            <a:extLst xmlns:a="http://schemas.openxmlformats.org/drawingml/2006/main">
              <a:ext uri="{FF2B5EF4-FFF2-40B4-BE49-F238E27FC236}">
                <a16:creationId xmlns:a16="http://schemas.microsoft.com/office/drawing/2014/main" id="{D343EBAE-3320-408E-A163-704FDF944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hw-1-accent">
            <a:extLst xmlns:a="http://schemas.openxmlformats.org/drawingml/2006/main">
              <a:ext uri="{FF2B5EF4-FFF2-40B4-BE49-F238E27FC236}">
                <a16:creationId xmlns:a16="http://schemas.microsoft.com/office/drawing/2014/main" id="{33A49646-7314-438C-A80C-65FA5DBB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1450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hw-1-title">
            <a:extLst xmlns:a="http://schemas.openxmlformats.org/drawingml/2006/main">
              <a:ext uri="{FF2B5EF4-FFF2-40B4-BE49-F238E27FC236}">
                <a16:creationId xmlns:a16="http://schemas.microsoft.com/office/drawing/2014/main" id="{375B146E-261B-4937-B518-444FA0098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0500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Camera Module</a:t>
            </a:r>
          </a:p>
        </p:txBody>
      </p:sp>
      <p:sp>
        <p:nvSpPr>
          <p:cNvPr id="12" name="hw-1-body">
            <a:extLst xmlns:a="http://schemas.openxmlformats.org/drawingml/2006/main">
              <a:ext uri="{FF2B5EF4-FFF2-40B4-BE49-F238E27FC236}">
                <a16:creationId xmlns:a16="http://schemas.microsoft.com/office/drawing/2014/main" id="{B157D1BC-26B8-44A7-BF3F-6FA68E1FD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6695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Captures the skin image</a:t>
            </a:r>
          </a:p>
        </p:txBody>
      </p:sp>
      <p:sp>
        <p:nvSpPr>
          <p:cNvPr id="13" name="hw-2">
            <a:extLst xmlns:a="http://schemas.openxmlformats.org/drawingml/2006/main">
              <a:ext uri="{FF2B5EF4-FFF2-40B4-BE49-F238E27FC236}">
                <a16:creationId xmlns:a16="http://schemas.microsoft.com/office/drawing/2014/main" id="{AC6B6F1B-C6B1-44DB-A9EC-9BDE90EAB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hw-2-accent">
            <a:extLst xmlns:a="http://schemas.openxmlformats.org/drawingml/2006/main">
              <a:ext uri="{FF2B5EF4-FFF2-40B4-BE49-F238E27FC236}">
                <a16:creationId xmlns:a16="http://schemas.microsoft.com/office/drawing/2014/main" id="{AFD36CD7-08AB-4AC8-9289-90CFC421A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hw-2-title">
            <a:extLst xmlns:a="http://schemas.openxmlformats.org/drawingml/2006/main">
              <a:ext uri="{FF2B5EF4-FFF2-40B4-BE49-F238E27FC236}">
                <a16:creationId xmlns:a16="http://schemas.microsoft.com/office/drawing/2014/main" id="{29F4BAF0-935F-4B82-A9C6-70363173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242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MicroSD card</a:t>
            </a:r>
          </a:p>
        </p:txBody>
      </p:sp>
      <p:sp>
        <p:nvSpPr>
          <p:cNvPr id="16" name="hw-2-body">
            <a:extLst xmlns:a="http://schemas.openxmlformats.org/drawingml/2006/main">
              <a:ext uri="{FF2B5EF4-FFF2-40B4-BE49-F238E27FC236}">
                <a16:creationId xmlns:a16="http://schemas.microsoft.com/office/drawing/2014/main" id="{37FE675E-D282-40C5-825C-85C587A5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886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OS, Python environment, model</a:t>
            </a:r>
          </a:p>
        </p:txBody>
      </p:sp>
      <p:sp>
        <p:nvSpPr>
          <p:cNvPr id="17" name="hw-3">
            <a:extLst xmlns:a="http://schemas.openxmlformats.org/drawingml/2006/main">
              <a:ext uri="{FF2B5EF4-FFF2-40B4-BE49-F238E27FC236}">
                <a16:creationId xmlns:a16="http://schemas.microsoft.com/office/drawing/2014/main" id="{C801FA2A-8ADB-435B-9541-9A420D607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4762500" cy="1257300"/>
          </a:xfrm>
          <a:prstGeom xmlns:a="http://schemas.openxmlformats.org/drawingml/2006/main" prst="roundRect">
            <a:avLst>
              <a:gd name="adj" fmla="val 106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8" name="hw-3-accent">
            <a:extLst xmlns:a="http://schemas.openxmlformats.org/drawingml/2006/main">
              <a:ext uri="{FF2B5EF4-FFF2-40B4-BE49-F238E27FC236}">
                <a16:creationId xmlns:a16="http://schemas.microsoft.com/office/drawing/2014/main" id="{7144F51B-1E97-4FB6-AFB4-F46AD3E1C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66675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hw-3-title">
            <a:extLst xmlns:a="http://schemas.openxmlformats.org/drawingml/2006/main">
              <a:ext uri="{FF2B5EF4-FFF2-40B4-BE49-F238E27FC236}">
                <a16:creationId xmlns:a16="http://schemas.microsoft.com/office/drawing/2014/main" id="{48FF53FB-32D7-4B75-9391-97736F4D7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524250"/>
            <a:ext cx="434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Power + Wi-Fi</a:t>
            </a:r>
          </a:p>
        </p:txBody>
      </p:sp>
      <p:sp>
        <p:nvSpPr>
          <p:cNvPr id="20" name="hw-3-body">
            <a:extLst xmlns:a="http://schemas.openxmlformats.org/drawingml/2006/main">
              <a:ext uri="{FF2B5EF4-FFF2-40B4-BE49-F238E27FC236}">
                <a16:creationId xmlns:a16="http://schemas.microsoft.com/office/drawing/2014/main" id="{3FD3BDDB-A78A-4D32-A9CB-2A99797CA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86200"/>
            <a:ext cx="4343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Stable operation and browser access</a:t>
            </a:r>
          </a:p>
        </p:txBody>
      </p:sp>
      <p:sp>
        <p:nvSpPr>
          <p:cNvPr id="21" name="hw-callout">
            <a:extLst xmlns:a="http://schemas.openxmlformats.org/drawingml/2006/main">
              <a:ext uri="{FF2B5EF4-FFF2-40B4-BE49-F238E27FC236}">
                <a16:creationId xmlns:a16="http://schemas.microsoft.com/office/drawing/2014/main" id="{8772C4F5-B950-4CEB-9116-FF34603F9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219700"/>
            <a:ext cx="10020300" cy="590550"/>
          </a:xfrm>
          <a:prstGeom xmlns:a="http://schemas.openxmlformats.org/drawingml/2006/main" prst="roundRect">
            <a:avLst>
              <a:gd name="adj" fmla="val 22581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hw-callout-text">
            <a:extLst xmlns:a="http://schemas.openxmlformats.org/drawingml/2006/main">
              <a:ext uri="{FF2B5EF4-FFF2-40B4-BE49-F238E27FC236}">
                <a16:creationId xmlns:a16="http://schemas.microsoft.com/office/drawing/2014/main" id="{912C4641-C7A2-4FDB-B775-4C85E1A67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391150"/>
            <a:ext cx="942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 Raspberry Pi display is required: open http://PI_IP_ADDRESS:5000 from a phone or laptop on the same network.</a:t>
            </a:r>
          </a:p>
        </p:txBody>
      </p:sp>
    </p:spTree>
    <p:extLst>
      <p:ext uri="{BB962C8B-B14F-4D97-AF65-F5344CB8AC3E}">
        <p14:creationId xmlns:p14="http://schemas.microsoft.com/office/powerpoint/2010/main" val="162062776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kicker-11">
            <a:extLst xmlns:a="http://schemas.openxmlformats.org/drawingml/2006/main">
              <a:ext uri="{FF2B5EF4-FFF2-40B4-BE49-F238E27FC236}">
                <a16:creationId xmlns:a16="http://schemas.microsoft.com/office/drawing/2014/main" id="{5A4A7A1A-4397-4E0D-9D26-CB3ED1C3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METHODOLOGY / MATHEMATICAL ANALYSIS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A66E62E2-5160-481E-8587-5E8A27F2C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Methodology makes the model measurable and deployable</a:t>
            </a:r>
          </a:p>
        </p:txBody>
      </p:sp>
      <p:sp>
        <p:nvSpPr>
          <p:cNvPr id="3" name="header-rule-11">
            <a:extLst xmlns:a="http://schemas.openxmlformats.org/drawingml/2006/main">
              <a:ext uri="{FF2B5EF4-FFF2-40B4-BE49-F238E27FC236}">
                <a16:creationId xmlns:a16="http://schemas.microsoft.com/office/drawing/2014/main" id="{E6B18E82-5804-4796-ABCD-C2BDBB44C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1">
            <a:extLst xmlns:a="http://schemas.openxmlformats.org/drawingml/2006/main">
              <a:ext uri="{FF2B5EF4-FFF2-40B4-BE49-F238E27FC236}">
                <a16:creationId xmlns:a16="http://schemas.microsoft.com/office/drawing/2014/main" id="{BEAAC6F4-3AA3-4EFF-83C8-1375648AA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11</a:t>
            </a:r>
          </a:p>
        </p:txBody>
      </p:sp>
      <p:sp>
        <p:nvSpPr>
          <p:cNvPr id="5" name="meth-train-title">
            <a:extLst xmlns:a="http://schemas.openxmlformats.org/drawingml/2006/main">
              <a:ext uri="{FF2B5EF4-FFF2-40B4-BE49-F238E27FC236}">
                <a16:creationId xmlns:a16="http://schemas.microsoft.com/office/drawing/2014/main" id="{3E6B8A22-8297-4DD9-8DFE-09510D278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Training</a:t>
            </a:r>
          </a:p>
        </p:txBody>
      </p:sp>
      <p:sp>
        <p:nvSpPr>
          <p:cNvPr id="6" name="meth-train-body">
            <a:extLst xmlns:a="http://schemas.openxmlformats.org/drawingml/2006/main">
              <a:ext uri="{FF2B5EF4-FFF2-40B4-BE49-F238E27FC236}">
                <a16:creationId xmlns:a16="http://schemas.microsoft.com/office/drawing/2014/main" id="{C3E03CF4-9E4A-4B6D-9798-37B11DC8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• Organize images by label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• Split train / validation / test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• Resize to the model input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• Apply augmentation only to training data</a:t>
            </a:r>
          </a:p>
          <a:p xmlns:a="http://schemas.openxmlformats.org/drawingml/2006/main">
            <a:pPr>
              <a:lnSpc>
                <a:spcPct val="125000"/>
              </a:lnSpc>
              <a:buNone/>
              <a:defRPr sz="1500">
                <a:solidFill>
                  <a:srgbClr val="52657D"/>
                </a:solidFill>
              </a:defRPr>
            </a:pPr>
            <a:r>
              <a:rPr sz="1500">
                <a:solidFill>
                  <a:srgbClr val="52657D"/>
                </a:solidFill>
              </a:rPr>
              <a:t>• Export the trained network to TFLite</a:t>
            </a:r>
          </a:p>
        </p:txBody>
      </p:sp>
      <p:sp>
        <p:nvSpPr>
          <p:cNvPr id="7" name="meth-pred-title">
            <a:extLst xmlns:a="http://schemas.openxmlformats.org/drawingml/2006/main">
              <a:ext uri="{FF2B5EF4-FFF2-40B4-BE49-F238E27FC236}">
                <a16:creationId xmlns:a16="http://schemas.microsoft.com/office/drawing/2014/main" id="{F66D5216-63B4-4265-9E90-DB38984C0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714500"/>
            <a:ext cx="1714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3D8DFF"/>
                </a:solidFill>
              </a:defRPr>
            </a:pPr>
            <a:r>
              <a:rPr sz="1725" b="1">
                <a:solidFill>
                  <a:srgbClr val="3D8DFF"/>
                </a:solidFill>
              </a:rPr>
              <a:t>Prediction</a:t>
            </a:r>
          </a:p>
        </p:txBody>
      </p:sp>
      <p:sp>
        <p:nvSpPr>
          <p:cNvPr id="8" name="meth-equations">
            <a:extLst xmlns:a="http://schemas.openxmlformats.org/drawingml/2006/main">
              <a:ext uri="{FF2B5EF4-FFF2-40B4-BE49-F238E27FC236}">
                <a16:creationId xmlns:a16="http://schemas.microsoft.com/office/drawing/2014/main" id="{97150A29-5DFD-4842-9362-F9E83CC1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33600"/>
            <a:ext cx="3905250" cy="2038350"/>
          </a:xfrm>
          <a:prstGeom xmlns:a="http://schemas.openxmlformats.org/drawingml/2006/main" prst="roundRect">
            <a:avLst>
              <a:gd name="adj" fmla="val 8411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meth-equations-text">
            <a:extLst xmlns:a="http://schemas.openxmlformats.org/drawingml/2006/main">
              <a:ext uri="{FF2B5EF4-FFF2-40B4-BE49-F238E27FC236}">
                <a16:creationId xmlns:a16="http://schemas.microsoft.com/office/drawing/2014/main" id="{FA7771E1-CAEF-4986-876E-6DB7E6838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8125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p = softmax(z)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confidence = max(p)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entropy = −Σ pᵢ log₂(pᵢ)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accept only when quality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575">
                <a:solidFill>
                  <a:srgbClr val="FFFFFF"/>
                </a:solidFill>
              </a:defRPr>
            </a:pPr>
            <a:r>
              <a:rPr sz="1575">
                <a:solidFill>
                  <a:srgbClr val="FFFFFF"/>
                </a:solidFill>
              </a:rPr>
              <a:t>and confidence are adequate</a:t>
            </a:r>
          </a:p>
        </p:txBody>
      </p:sp>
      <p:sp>
        <p:nvSpPr>
          <p:cNvPr id="10" name="meth-metric">
            <a:extLst xmlns:a="http://schemas.openxmlformats.org/drawingml/2006/main">
              <a:ext uri="{FF2B5EF4-FFF2-40B4-BE49-F238E27FC236}">
                <a16:creationId xmlns:a16="http://schemas.microsoft.com/office/drawing/2014/main" id="{4046FA51-8529-4D62-8113-0FBCA7F47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969645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meth-metric-title">
            <a:extLst xmlns:a="http://schemas.openxmlformats.org/drawingml/2006/main">
              <a:ext uri="{FF2B5EF4-FFF2-40B4-BE49-F238E27FC236}">
                <a16:creationId xmlns:a16="http://schemas.microsoft.com/office/drawing/2014/main" id="{D1E27663-81F7-486E-9E94-65CC9E059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076825"/>
            <a:ext cx="2286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3D8DFF"/>
                </a:solidFill>
              </a:defRPr>
            </a:pPr>
            <a:r>
              <a:rPr sz="1500" b="1">
                <a:solidFill>
                  <a:srgbClr val="3D8DFF"/>
                </a:solidFill>
              </a:rPr>
              <a:t>Key evaluation measures</a:t>
            </a:r>
          </a:p>
        </p:txBody>
      </p:sp>
      <p:sp>
        <p:nvSpPr>
          <p:cNvPr id="12" name="meth-metric-body">
            <a:extLst xmlns:a="http://schemas.openxmlformats.org/drawingml/2006/main">
              <a:ext uri="{FF2B5EF4-FFF2-40B4-BE49-F238E27FC236}">
                <a16:creationId xmlns:a16="http://schemas.microsoft.com/office/drawing/2014/main" id="{FE48D46C-A456-4CF3-B451-B8D865EB3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048250"/>
            <a:ext cx="657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10233D"/>
                </a:solidFill>
              </a:defRPr>
            </a:pPr>
            <a:r>
              <a:rPr sz="1425">
                <a:solidFill>
                  <a:srgbClr val="10233D"/>
                </a:solidFill>
              </a:rPr>
              <a:t>Accuracy is not enough: measure non-skin false positives, recall, confusion, and performance across lighting and skin tones.</a:t>
            </a:r>
          </a:p>
        </p:txBody>
      </p:sp>
    </p:spTree>
    <p:extLst>
      <p:ext uri="{BB962C8B-B14F-4D97-AF65-F5344CB8AC3E}">
        <p14:creationId xmlns:p14="http://schemas.microsoft.com/office/powerpoint/2010/main" val="7501434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kicker-12">
            <a:extLst xmlns:a="http://schemas.openxmlformats.org/drawingml/2006/main">
              <a:ext uri="{FF2B5EF4-FFF2-40B4-BE49-F238E27FC236}">
                <a16:creationId xmlns:a16="http://schemas.microsoft.com/office/drawing/2014/main" id="{880EA922-03DB-4D06-ADA8-3DF41D60A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EXPECTED RESULTS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CD75986-E5C9-47D5-883D-5909DC11F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Success means fewer false positives and clearer user feedback</a:t>
            </a:r>
          </a:p>
        </p:txBody>
      </p:sp>
      <p:sp>
        <p:nvSpPr>
          <p:cNvPr id="3" name="header-rule-12">
            <a:extLst xmlns:a="http://schemas.openxmlformats.org/drawingml/2006/main">
              <a:ext uri="{FF2B5EF4-FFF2-40B4-BE49-F238E27FC236}">
                <a16:creationId xmlns:a16="http://schemas.microsoft.com/office/drawing/2014/main" id="{AC022F61-1458-49C2-8F86-46D2524C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2">
            <a:extLst xmlns:a="http://schemas.openxmlformats.org/drawingml/2006/main">
              <a:ext uri="{FF2B5EF4-FFF2-40B4-BE49-F238E27FC236}">
                <a16:creationId xmlns:a16="http://schemas.microsoft.com/office/drawing/2014/main" id="{A3689EBB-6FDF-4C64-AF48-DF1B559EE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12</a:t>
            </a:r>
          </a:p>
        </p:txBody>
      </p:sp>
      <p:sp>
        <p:nvSpPr>
          <p:cNvPr id="5" name="goal-pill-0">
            <a:extLst xmlns:a="http://schemas.openxmlformats.org/drawingml/2006/main">
              <a:ext uri="{FF2B5EF4-FFF2-40B4-BE49-F238E27FC236}">
                <a16:creationId xmlns:a16="http://schemas.microsoft.com/office/drawing/2014/main" id="{35B09730-1914-44AE-8EB5-2392ED53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95450"/>
            <a:ext cx="1714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B"/>
          </a:solidFill>
          <a:ln xmlns:a="http://schemas.openxmlformats.org/drawingml/2006/main" w="9525">
            <a:solidFill>
              <a:srgbClr val="F28C5B"/>
            </a:solidFill>
            <a:prstDash val="solid"/>
          </a:ln>
        </p:spPr>
      </p:sp>
      <p:sp>
        <p:nvSpPr>
          <p:cNvPr id="6" name="goal-pill-text-0">
            <a:extLst xmlns:a="http://schemas.openxmlformats.org/drawingml/2006/main">
              <a:ext uri="{FF2B5EF4-FFF2-40B4-BE49-F238E27FC236}">
                <a16:creationId xmlns:a16="http://schemas.microsoft.com/office/drawing/2014/main" id="{022F2249-4FDC-451A-8CB3-7E592208A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288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Reject</a:t>
            </a:r>
          </a:p>
        </p:txBody>
      </p:sp>
      <p:sp>
        <p:nvSpPr>
          <p:cNvPr id="7" name="goal-body-0">
            <a:extLst xmlns:a="http://schemas.openxmlformats.org/drawingml/2006/main">
              <a:ext uri="{FF2B5EF4-FFF2-40B4-BE49-F238E27FC236}">
                <a16:creationId xmlns:a16="http://schemas.microsoft.com/office/drawing/2014/main" id="{60AA61B1-C5A4-4B6F-B6EC-D4B1D1D4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907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33D"/>
                </a:solidFill>
              </a:defRPr>
            </a:pPr>
            <a:r>
              <a:rPr sz="1575">
                <a:solidFill>
                  <a:srgbClr val="10233D"/>
                </a:solidFill>
              </a:rPr>
              <a:t>Documents, handwritten pages, tables, fans, rooms, animals, and random objects.</a:t>
            </a:r>
          </a:p>
        </p:txBody>
      </p:sp>
      <p:sp>
        <p:nvSpPr>
          <p:cNvPr id="8" name="goal-pill-1">
            <a:extLst xmlns:a="http://schemas.openxmlformats.org/drawingml/2006/main">
              <a:ext uri="{FF2B5EF4-FFF2-40B4-BE49-F238E27FC236}">
                <a16:creationId xmlns:a16="http://schemas.microsoft.com/office/drawing/2014/main" id="{676286F6-CEBC-4705-BE28-D31056709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590800"/>
            <a:ext cx="1714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9" name="goal-pill-text-1">
            <a:extLst xmlns:a="http://schemas.openxmlformats.org/drawingml/2006/main">
              <a:ext uri="{FF2B5EF4-FFF2-40B4-BE49-F238E27FC236}">
                <a16:creationId xmlns:a16="http://schemas.microsoft.com/office/drawing/2014/main" id="{8A7AB83A-9CC0-4C8E-809C-2E95F00A2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241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Recognize</a:t>
            </a:r>
          </a:p>
        </p:txBody>
      </p:sp>
      <p:sp>
        <p:nvSpPr>
          <p:cNvPr id="10" name="goal-body-1">
            <a:extLst xmlns:a="http://schemas.openxmlformats.org/drawingml/2006/main">
              <a:ext uri="{FF2B5EF4-FFF2-40B4-BE49-F238E27FC236}">
                <a16:creationId xmlns:a16="http://schemas.microsoft.com/office/drawing/2014/main" id="{5BB27001-DECE-47CB-B98E-E21245F6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6860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33D"/>
                </a:solidFill>
              </a:defRPr>
            </a:pPr>
            <a:r>
              <a:rPr sz="1575">
                <a:solidFill>
                  <a:srgbClr val="10233D"/>
                </a:solidFill>
              </a:rPr>
              <a:t>Supported skin-lesion classes and normal skin only within the trained scope.</a:t>
            </a:r>
          </a:p>
        </p:txBody>
      </p:sp>
      <p:sp>
        <p:nvSpPr>
          <p:cNvPr id="11" name="goal-pill-2">
            <a:extLst xmlns:a="http://schemas.openxmlformats.org/drawingml/2006/main">
              <a:ext uri="{FF2B5EF4-FFF2-40B4-BE49-F238E27FC236}">
                <a16:creationId xmlns:a16="http://schemas.microsoft.com/office/drawing/2014/main" id="{6DB367A1-9B31-4CE4-A316-CAD998CCA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486150"/>
            <a:ext cx="1714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goal-pill-text-2">
            <a:extLst xmlns:a="http://schemas.openxmlformats.org/drawingml/2006/main">
              <a:ext uri="{FF2B5EF4-FFF2-40B4-BE49-F238E27FC236}">
                <a16:creationId xmlns:a16="http://schemas.microsoft.com/office/drawing/2014/main" id="{B6453769-5482-461A-ABD5-D0B10D447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6195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Explain</a:t>
            </a:r>
          </a:p>
        </p:txBody>
      </p:sp>
      <p:sp>
        <p:nvSpPr>
          <p:cNvPr id="13" name="goal-body-2">
            <a:extLst xmlns:a="http://schemas.openxmlformats.org/drawingml/2006/main">
              <a:ext uri="{FF2B5EF4-FFF2-40B4-BE49-F238E27FC236}">
                <a16:creationId xmlns:a16="http://schemas.microsoft.com/office/drawing/2014/main" id="{D1529E5F-385F-4577-8428-E72D8E188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58140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33D"/>
                </a:solidFill>
              </a:defRPr>
            </a:pPr>
            <a:r>
              <a:rPr sz="1575">
                <a:solidFill>
                  <a:srgbClr val="10233D"/>
                </a:solidFill>
              </a:rPr>
              <a:t>Show confidence, quality metrics, notes, and a PDF report.</a:t>
            </a:r>
          </a:p>
        </p:txBody>
      </p:sp>
      <p:sp>
        <p:nvSpPr>
          <p:cNvPr id="14" name="goal-pill-3">
            <a:extLst xmlns:a="http://schemas.openxmlformats.org/drawingml/2006/main">
              <a:ext uri="{FF2B5EF4-FFF2-40B4-BE49-F238E27FC236}">
                <a16:creationId xmlns:a16="http://schemas.microsoft.com/office/drawing/2014/main" id="{7E11270B-E5DF-4448-B22E-6FF0B361F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381500"/>
            <a:ext cx="17145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9525">
            <a:solidFill>
              <a:srgbClr val="42B883"/>
            </a:solidFill>
            <a:prstDash val="solid"/>
          </a:ln>
        </p:spPr>
      </p:sp>
      <p:sp>
        <p:nvSpPr>
          <p:cNvPr id="15" name="goal-pill-text-3">
            <a:extLst xmlns:a="http://schemas.openxmlformats.org/drawingml/2006/main">
              <a:ext uri="{FF2B5EF4-FFF2-40B4-BE49-F238E27FC236}">
                <a16:creationId xmlns:a16="http://schemas.microsoft.com/office/drawing/2014/main" id="{47EA565B-4C0B-4DDF-A7BB-F03450A9E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51485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Deploy</a:t>
            </a:r>
          </a:p>
        </p:txBody>
      </p:sp>
      <p:sp>
        <p:nvSpPr>
          <p:cNvPr id="16" name="goal-body-3">
            <a:extLst xmlns:a="http://schemas.openxmlformats.org/drawingml/2006/main">
              <a:ext uri="{FF2B5EF4-FFF2-40B4-BE49-F238E27FC236}">
                <a16:creationId xmlns:a16="http://schemas.microsoft.com/office/drawing/2014/main" id="{071F8FFA-5AE0-4013-BE1F-15D65F92F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476750"/>
            <a:ext cx="7620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10233D"/>
                </a:solidFill>
              </a:defRPr>
            </a:pPr>
            <a:r>
              <a:rPr sz="1575">
                <a:solidFill>
                  <a:srgbClr val="10233D"/>
                </a:solidFill>
              </a:rPr>
              <a:t>Run from a browser, Raspberry Pi camera, or API client.</a:t>
            </a:r>
          </a:p>
        </p:txBody>
      </p:sp>
      <p:sp>
        <p:nvSpPr>
          <p:cNvPr id="17" name="goal-warning">
            <a:extLst xmlns:a="http://schemas.openxmlformats.org/drawingml/2006/main">
              <a:ext uri="{FF2B5EF4-FFF2-40B4-BE49-F238E27FC236}">
                <a16:creationId xmlns:a16="http://schemas.microsoft.com/office/drawing/2014/main" id="{19E24B2C-582A-42E6-9009-444B9C631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524500"/>
            <a:ext cx="9791700" cy="51435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F2F6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goal-warning-text">
            <a:extLst xmlns:a="http://schemas.openxmlformats.org/drawingml/2006/main">
              <a:ext uri="{FF2B5EF4-FFF2-40B4-BE49-F238E27FC236}">
                <a16:creationId xmlns:a16="http://schemas.microsoft.com/office/drawing/2014/main" id="{A5C5280A-682D-452A-AC85-E94EEC12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566737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i="1">
                <a:solidFill>
                  <a:srgbClr val="52657D"/>
                </a:solidFill>
              </a:defRPr>
            </a:pPr>
            <a:r>
              <a:rPr sz="1275" i="1">
                <a:solidFill>
                  <a:srgbClr val="52657D"/>
                </a:solidFill>
              </a:rPr>
              <a:t>These are acceptance goals, not claimed medical accuracy. Final performance must be measured on a held-out dataset.</a:t>
            </a:r>
          </a:p>
        </p:txBody>
      </p:sp>
    </p:spTree>
    <p:extLst>
      <p:ext uri="{BB962C8B-B14F-4D97-AF65-F5344CB8AC3E}">
        <p14:creationId xmlns:p14="http://schemas.microsoft.com/office/powerpoint/2010/main" val="106237053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D1B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conclusion-kicker">
            <a:extLst xmlns:a="http://schemas.openxmlformats.org/drawingml/2006/main">
              <a:ext uri="{FF2B5EF4-FFF2-40B4-BE49-F238E27FC236}">
                <a16:creationId xmlns:a16="http://schemas.microsoft.com/office/drawing/2014/main" id="{B6B732FF-4BBA-4121-9A55-B4824208C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28B8D7"/>
                </a:solidFill>
              </a:defRPr>
            </a:pPr>
            <a:r>
              <a:rPr sz="1050" b="1">
                <a:solidFill>
                  <a:srgbClr val="28B8D7"/>
                </a:solidFill>
              </a:rPr>
              <a:t>CONCLUSION</a:t>
            </a:r>
          </a:p>
        </p:txBody>
      </p:sp>
      <p:sp>
        <p:nvSpPr>
          <p:cNvPr id="2" name="conclusion-title">
            <a:extLst xmlns:a="http://schemas.openxmlformats.org/drawingml/2006/main">
              <a:ext uri="{FF2B5EF4-FFF2-40B4-BE49-F238E27FC236}">
                <a16:creationId xmlns:a16="http://schemas.microsoft.com/office/drawing/2014/main" id="{83160389-0B4A-40EC-B057-AF9AADE24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8110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The value is in the complete system</a:t>
            </a:r>
          </a:p>
        </p:txBody>
      </p:sp>
      <p:sp>
        <p:nvSpPr>
          <p:cNvPr id="3" name="conclusion-body">
            <a:extLst xmlns:a="http://schemas.openxmlformats.org/drawingml/2006/main">
              <a:ext uri="{FF2B5EF4-FFF2-40B4-BE49-F238E27FC236}">
                <a16:creationId xmlns:a16="http://schemas.microsoft.com/office/drawing/2014/main" id="{2EA606A6-F217-42FD-A5AB-3D3680DF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9057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2100">
                <a:solidFill>
                  <a:srgbClr val="B8D8E7"/>
                </a:solidFill>
              </a:defRPr>
            </a:pPr>
            <a:r>
              <a:rPr sz="2100">
                <a:solidFill>
                  <a:srgbClr val="B8D8E7"/>
                </a:solidFill>
              </a:rPr>
              <a:t>A camera becomes useful when the surrounding workflow handles quality, rejects invalid inputs, reports uncertainty, and leaves a traceable result.</a:t>
            </a:r>
          </a:p>
        </p:txBody>
      </p:sp>
      <p:sp>
        <p:nvSpPr>
          <p:cNvPr id="4" name="conclusion-bar">
            <a:extLst xmlns:a="http://schemas.openxmlformats.org/drawingml/2006/main">
              <a:ext uri="{FF2B5EF4-FFF2-40B4-BE49-F238E27FC236}">
                <a16:creationId xmlns:a16="http://schemas.microsoft.com/office/drawing/2014/main" id="{DDA606F4-B2CB-4144-A7DC-7B4AA3B0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38600"/>
            <a:ext cx="10001250" cy="895350"/>
          </a:xfrm>
          <a:prstGeom xmlns:a="http://schemas.openxmlformats.org/drawingml/2006/main" prst="roundRect">
            <a:avLst>
              <a:gd name="adj" fmla="val 19149"/>
            </a:avLst>
          </a:prstGeom>
          <a:solidFill xmlns:a="http://schemas.openxmlformats.org/drawingml/2006/main">
            <a:srgbClr val="15344D"/>
          </a:solidFill>
          <a:ln xmlns:a="http://schemas.openxmlformats.org/drawingml/2006/main" w="9525">
            <a:solidFill>
              <a:srgbClr val="2A6C84"/>
            </a:solidFill>
            <a:prstDash val="solid"/>
          </a:ln>
        </p:spPr>
      </p:sp>
      <p:sp>
        <p:nvSpPr>
          <p:cNvPr id="5" name="conclusion-sequence">
            <a:extLst xmlns:a="http://schemas.openxmlformats.org/drawingml/2006/main">
              <a:ext uri="{FF2B5EF4-FFF2-40B4-BE49-F238E27FC236}">
                <a16:creationId xmlns:a16="http://schemas.microsoft.com/office/drawing/2014/main" id="{E6AA60F1-214F-4C07-9A1F-01C5364E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324350"/>
            <a:ext cx="923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Capture  •  Validate  •  Reject  •  Classify  •  Report</a:t>
            </a:r>
          </a:p>
        </p:txBody>
      </p:sp>
      <p:sp>
        <p:nvSpPr>
          <p:cNvPr id="6" name="conclusion-disclaimer">
            <a:extLst xmlns:a="http://schemas.openxmlformats.org/drawingml/2006/main">
              <a:ext uri="{FF2B5EF4-FFF2-40B4-BE49-F238E27FC236}">
                <a16:creationId xmlns:a16="http://schemas.microsoft.com/office/drawing/2014/main" id="{F1326CF8-3B31-4945-8095-7AC9D1714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829300"/>
            <a:ext cx="9048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i="1">
                <a:solidFill>
                  <a:srgbClr val="F28C5B"/>
                </a:solidFill>
              </a:defRPr>
            </a:pPr>
            <a:r>
              <a:rPr sz="1200" i="1">
                <a:solidFill>
                  <a:srgbClr val="F28C5B"/>
                </a:solidFill>
              </a:rPr>
              <a:t>Educational screening prototype — always confirm concerns with a qualified healthcare professional.</a:t>
            </a:r>
          </a:p>
        </p:txBody>
      </p:sp>
    </p:spTree>
    <p:extLst>
      <p:ext uri="{BB962C8B-B14F-4D97-AF65-F5344CB8AC3E}">
        <p14:creationId xmlns:p14="http://schemas.microsoft.com/office/powerpoint/2010/main" val="186322226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kicker-14">
            <a:extLst xmlns:a="http://schemas.openxmlformats.org/drawingml/2006/main">
              <a:ext uri="{FF2B5EF4-FFF2-40B4-BE49-F238E27FC236}">
                <a16:creationId xmlns:a16="http://schemas.microsoft.com/office/drawing/2014/main" id="{67685857-F34E-46BA-8778-70BEC2FBA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PLAN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96A8D6F3-C655-4476-8AE9-4BFC6CAC0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The remaining plan is to train, integrate, validate, and then release</a:t>
            </a:r>
          </a:p>
        </p:txBody>
      </p:sp>
      <p:sp>
        <p:nvSpPr>
          <p:cNvPr id="3" name="header-rule-14">
            <a:extLst xmlns:a="http://schemas.openxmlformats.org/drawingml/2006/main">
              <a:ext uri="{FF2B5EF4-FFF2-40B4-BE49-F238E27FC236}">
                <a16:creationId xmlns:a16="http://schemas.microsoft.com/office/drawing/2014/main" id="{2F92060E-8DBE-4095-A0FF-920239AFE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4">
            <a:extLst xmlns:a="http://schemas.openxmlformats.org/drawingml/2006/main">
              <a:ext uri="{FF2B5EF4-FFF2-40B4-BE49-F238E27FC236}">
                <a16:creationId xmlns:a16="http://schemas.microsoft.com/office/drawing/2014/main" id="{D62F54BD-9D88-473C-9C21-6752DBD90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14</a:t>
            </a:r>
          </a:p>
        </p:txBody>
      </p:sp>
      <p:sp>
        <p:nvSpPr>
          <p:cNvPr id="5" name="plan-num-0">
            <a:extLst xmlns:a="http://schemas.openxmlformats.org/drawingml/2006/main">
              <a:ext uri="{FF2B5EF4-FFF2-40B4-BE49-F238E27FC236}">
                <a16:creationId xmlns:a16="http://schemas.microsoft.com/office/drawing/2014/main" id="{D41C2B66-7AC1-4532-B2D5-005108766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1581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6" name="plan-num-text-0">
            <a:extLst xmlns:a="http://schemas.openxmlformats.org/drawingml/2006/main">
              <a:ext uri="{FF2B5EF4-FFF2-40B4-BE49-F238E27FC236}">
                <a16:creationId xmlns:a16="http://schemas.microsoft.com/office/drawing/2014/main" id="{BA9EC9BF-7AA0-47C1-9226-40041D4E2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plan-title-0">
            <a:extLst xmlns:a="http://schemas.openxmlformats.org/drawingml/2006/main">
              <a:ext uri="{FF2B5EF4-FFF2-40B4-BE49-F238E27FC236}">
                <a16:creationId xmlns:a16="http://schemas.microsoft.com/office/drawing/2014/main" id="{C8CDD294-3B9F-4FDE-8872-8ABE15E01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956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Dataset</a:t>
            </a:r>
          </a:p>
        </p:txBody>
      </p:sp>
      <p:sp>
        <p:nvSpPr>
          <p:cNvPr id="8" name="plan-body-0">
            <a:extLst xmlns:a="http://schemas.openxmlformats.org/drawingml/2006/main">
              <a:ext uri="{FF2B5EF4-FFF2-40B4-BE49-F238E27FC236}">
                <a16:creationId xmlns:a16="http://schemas.microsoft.com/office/drawing/2014/main" id="{444669B4-F404-4D0B-A38A-DD566CD72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337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Finalize skin + non-skin gate data</a:t>
            </a:r>
          </a:p>
        </p:txBody>
      </p:sp>
      <p:sp>
        <p:nvSpPr>
          <p:cNvPr id="9" name="plan-line-0">
            <a:extLst xmlns:a="http://schemas.openxmlformats.org/drawingml/2006/main">
              <a:ext uri="{FF2B5EF4-FFF2-40B4-BE49-F238E27FC236}">
                <a16:creationId xmlns:a16="http://schemas.microsoft.com/office/drawing/2014/main" id="{F0DB2B04-8369-4B08-821E-01C2B8586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2574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0" name="plan-arrow-0">
            <a:extLst xmlns:a="http://schemas.openxmlformats.org/drawingml/2006/main">
              <a:ext uri="{FF2B5EF4-FFF2-40B4-BE49-F238E27FC236}">
                <a16:creationId xmlns:a16="http://schemas.microsoft.com/office/drawing/2014/main" id="{15D2E106-0E5D-4BBD-A1F4-3FDF24AAB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095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1" name="plan-num-1">
            <a:extLst xmlns:a="http://schemas.openxmlformats.org/drawingml/2006/main">
              <a:ext uri="{FF2B5EF4-FFF2-40B4-BE49-F238E27FC236}">
                <a16:creationId xmlns:a16="http://schemas.microsoft.com/office/drawing/2014/main" id="{32D8C2BE-EEF7-4E83-9C43-C29DDCAC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000250"/>
            <a:ext cx="1581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2" name="plan-num-text-1">
            <a:extLst xmlns:a="http://schemas.openxmlformats.org/drawingml/2006/main">
              <a:ext uri="{FF2B5EF4-FFF2-40B4-BE49-F238E27FC236}">
                <a16:creationId xmlns:a16="http://schemas.microsoft.com/office/drawing/2014/main" id="{0EC8D7C8-1FF1-449B-A042-3CA738E4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plan-title-1">
            <a:extLst xmlns:a="http://schemas.openxmlformats.org/drawingml/2006/main">
              <a:ext uri="{FF2B5EF4-FFF2-40B4-BE49-F238E27FC236}">
                <a16:creationId xmlns:a16="http://schemas.microsoft.com/office/drawing/2014/main" id="{83E29A4D-4C50-46B2-98C5-A4EDA1A83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956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Training</a:t>
            </a:r>
          </a:p>
        </p:txBody>
      </p:sp>
      <p:sp>
        <p:nvSpPr>
          <p:cNvPr id="14" name="plan-body-1">
            <a:extLst xmlns:a="http://schemas.openxmlformats.org/drawingml/2006/main">
              <a:ext uri="{FF2B5EF4-FFF2-40B4-BE49-F238E27FC236}">
                <a16:creationId xmlns:a16="http://schemas.microsoft.com/office/drawing/2014/main" id="{7BD5834F-467A-4BFB-A5C7-B4187D55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3337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Train the small TFLite gate in Colab</a:t>
            </a:r>
          </a:p>
        </p:txBody>
      </p:sp>
      <p:sp>
        <p:nvSpPr>
          <p:cNvPr id="15" name="plan-line-1">
            <a:extLst xmlns:a="http://schemas.openxmlformats.org/drawingml/2006/main">
              <a:ext uri="{FF2B5EF4-FFF2-40B4-BE49-F238E27FC236}">
                <a16:creationId xmlns:a16="http://schemas.microsoft.com/office/drawing/2014/main" id="{E7736242-3F77-4165-B214-391D35FC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2574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6" name="plan-arrow-1">
            <a:extLst xmlns:a="http://schemas.openxmlformats.org/drawingml/2006/main">
              <a:ext uri="{FF2B5EF4-FFF2-40B4-BE49-F238E27FC236}">
                <a16:creationId xmlns:a16="http://schemas.microsoft.com/office/drawing/2014/main" id="{81534AE5-6354-4910-8493-FA8EA5BA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95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17" name="plan-num-2">
            <a:extLst xmlns:a="http://schemas.openxmlformats.org/drawingml/2006/main">
              <a:ext uri="{FF2B5EF4-FFF2-40B4-BE49-F238E27FC236}">
                <a16:creationId xmlns:a16="http://schemas.microsoft.com/office/drawing/2014/main" id="{5A5BF828-2D7F-435A-A548-59E8BDB7D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000250"/>
            <a:ext cx="1581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9525">
            <a:solidFill>
              <a:srgbClr val="42B883"/>
            </a:solidFill>
            <a:prstDash val="solid"/>
          </a:ln>
        </p:spPr>
      </p:sp>
      <p:sp>
        <p:nvSpPr>
          <p:cNvPr id="18" name="plan-num-text-2">
            <a:extLst xmlns:a="http://schemas.openxmlformats.org/drawingml/2006/main">
              <a:ext uri="{FF2B5EF4-FFF2-40B4-BE49-F238E27FC236}">
                <a16:creationId xmlns:a16="http://schemas.microsoft.com/office/drawing/2014/main" id="{87146643-BFE4-4F6F-9CFC-77BE97DC8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9" name="plan-title-2">
            <a:extLst xmlns:a="http://schemas.openxmlformats.org/drawingml/2006/main">
              <a:ext uri="{FF2B5EF4-FFF2-40B4-BE49-F238E27FC236}">
                <a16:creationId xmlns:a16="http://schemas.microsoft.com/office/drawing/2014/main" id="{6ECB8CA5-7E30-4212-AC81-22D853B48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8956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Integration</a:t>
            </a:r>
          </a:p>
        </p:txBody>
      </p:sp>
      <p:sp>
        <p:nvSpPr>
          <p:cNvPr id="20" name="plan-body-2">
            <a:extLst xmlns:a="http://schemas.openxmlformats.org/drawingml/2006/main">
              <a:ext uri="{FF2B5EF4-FFF2-40B4-BE49-F238E27FC236}">
                <a16:creationId xmlns:a16="http://schemas.microsoft.com/office/drawing/2014/main" id="{DB8E2B0F-D528-49D9-A148-D6AB41D3E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33337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Run gate before disease model</a:t>
            </a:r>
          </a:p>
        </p:txBody>
      </p:sp>
      <p:sp>
        <p:nvSpPr>
          <p:cNvPr id="21" name="plan-line-2">
            <a:extLst xmlns:a="http://schemas.openxmlformats.org/drawingml/2006/main">
              <a:ext uri="{FF2B5EF4-FFF2-40B4-BE49-F238E27FC236}">
                <a16:creationId xmlns:a16="http://schemas.microsoft.com/office/drawing/2014/main" id="{70F70629-DCE5-4E8A-A84A-52DB1C34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2574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2" name="plan-arrow-2">
            <a:extLst xmlns:a="http://schemas.openxmlformats.org/drawingml/2006/main">
              <a:ext uri="{FF2B5EF4-FFF2-40B4-BE49-F238E27FC236}">
                <a16:creationId xmlns:a16="http://schemas.microsoft.com/office/drawing/2014/main" id="{EAA3E1CF-E886-4202-A02E-382A33322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95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3" name="plan-num-3">
            <a:extLst xmlns:a="http://schemas.openxmlformats.org/drawingml/2006/main">
              <a:ext uri="{FF2B5EF4-FFF2-40B4-BE49-F238E27FC236}">
                <a16:creationId xmlns:a16="http://schemas.microsoft.com/office/drawing/2014/main" id="{0EB64FB7-1B76-4891-B172-32CE86D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000250"/>
            <a:ext cx="1581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B"/>
          </a:solidFill>
          <a:ln xmlns:a="http://schemas.openxmlformats.org/drawingml/2006/main" w="9525">
            <a:solidFill>
              <a:srgbClr val="F28C5B"/>
            </a:solidFill>
            <a:prstDash val="solid"/>
          </a:ln>
        </p:spPr>
      </p:sp>
      <p:sp>
        <p:nvSpPr>
          <p:cNvPr id="24" name="plan-num-text-3">
            <a:extLst xmlns:a="http://schemas.openxmlformats.org/drawingml/2006/main">
              <a:ext uri="{FF2B5EF4-FFF2-40B4-BE49-F238E27FC236}">
                <a16:creationId xmlns:a16="http://schemas.microsoft.com/office/drawing/2014/main" id="{E932EFBC-9B58-482A-B4BD-1825E319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5" name="plan-title-3">
            <a:extLst xmlns:a="http://schemas.openxmlformats.org/drawingml/2006/main">
              <a:ext uri="{FF2B5EF4-FFF2-40B4-BE49-F238E27FC236}">
                <a16:creationId xmlns:a16="http://schemas.microsoft.com/office/drawing/2014/main" id="{B91F830E-90B2-44F7-A5AE-6E4308502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8956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Validation</a:t>
            </a:r>
          </a:p>
        </p:txBody>
      </p:sp>
      <p:sp>
        <p:nvSpPr>
          <p:cNvPr id="26" name="plan-body-3">
            <a:extLst xmlns:a="http://schemas.openxmlformats.org/drawingml/2006/main">
              <a:ext uri="{FF2B5EF4-FFF2-40B4-BE49-F238E27FC236}">
                <a16:creationId xmlns:a16="http://schemas.microsoft.com/office/drawing/2014/main" id="{FE985D51-DB95-41F8-A39D-9D1E9AD8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3337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Test random images and skin images</a:t>
            </a:r>
          </a:p>
        </p:txBody>
      </p:sp>
      <p:sp>
        <p:nvSpPr>
          <p:cNvPr id="27" name="plan-line-3">
            <a:extLst xmlns:a="http://schemas.openxmlformats.org/drawingml/2006/main">
              <a:ext uri="{FF2B5EF4-FFF2-40B4-BE49-F238E27FC236}">
                <a16:creationId xmlns:a16="http://schemas.microsoft.com/office/drawing/2014/main" id="{48454678-91CB-46D5-BF75-736423FA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257425"/>
            <a:ext cx="457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8" name="plan-arrow-3">
            <a:extLst xmlns:a="http://schemas.openxmlformats.org/drawingml/2006/main">
              <a:ext uri="{FF2B5EF4-FFF2-40B4-BE49-F238E27FC236}">
                <a16:creationId xmlns:a16="http://schemas.microsoft.com/office/drawing/2014/main" id="{AACB171A-F65C-4C2D-8059-5101628C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095500"/>
            <a:ext cx="285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3D8DFF"/>
                </a:solidFill>
              </a:defRPr>
            </a:pPr>
            <a:r>
              <a:rPr sz="1650" b="1">
                <a:solidFill>
                  <a:srgbClr val="3D8DFF"/>
                </a:solidFill>
              </a:rPr>
              <a:t>→</a:t>
            </a:r>
          </a:p>
        </p:txBody>
      </p:sp>
      <p:sp>
        <p:nvSpPr>
          <p:cNvPr id="29" name="plan-num-4">
            <a:extLst xmlns:a="http://schemas.openxmlformats.org/drawingml/2006/main">
              <a:ext uri="{FF2B5EF4-FFF2-40B4-BE49-F238E27FC236}">
                <a16:creationId xmlns:a16="http://schemas.microsoft.com/office/drawing/2014/main" id="{AD1D471C-06B1-4C06-884F-D052F11CD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1581150" cy="5143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30" name="plan-num-text-4">
            <a:extLst xmlns:a="http://schemas.openxmlformats.org/drawingml/2006/main">
              <a:ext uri="{FF2B5EF4-FFF2-40B4-BE49-F238E27FC236}">
                <a16:creationId xmlns:a16="http://schemas.microsoft.com/office/drawing/2014/main" id="{27CF6D57-748D-4475-A16F-B824A5657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114550"/>
            <a:ext cx="15811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31" name="plan-title-4">
            <a:extLst xmlns:a="http://schemas.openxmlformats.org/drawingml/2006/main">
              <a:ext uri="{FF2B5EF4-FFF2-40B4-BE49-F238E27FC236}">
                <a16:creationId xmlns:a16="http://schemas.microsoft.com/office/drawing/2014/main" id="{A1DE1ED7-D091-41FA-9518-65FBF8A25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895600"/>
            <a:ext cx="15811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Release</a:t>
            </a:r>
          </a:p>
        </p:txBody>
      </p:sp>
      <p:sp>
        <p:nvSpPr>
          <p:cNvPr id="32" name="plan-body-4">
            <a:extLst xmlns:a="http://schemas.openxmlformats.org/drawingml/2006/main">
              <a:ext uri="{FF2B5EF4-FFF2-40B4-BE49-F238E27FC236}">
                <a16:creationId xmlns:a16="http://schemas.microsoft.com/office/drawing/2014/main" id="{B6A3888B-1A38-4D68-80C1-14B149B39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3333750"/>
            <a:ext cx="19240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Push the verified model to Render</a:t>
            </a:r>
          </a:p>
        </p:txBody>
      </p:sp>
      <p:sp>
        <p:nvSpPr>
          <p:cNvPr id="33" name="plan-next">
            <a:extLst xmlns:a="http://schemas.openxmlformats.org/drawingml/2006/main">
              <a:ext uri="{FF2B5EF4-FFF2-40B4-BE49-F238E27FC236}">
                <a16:creationId xmlns:a16="http://schemas.microsoft.com/office/drawing/2014/main" id="{9B48201A-428D-43DC-8D21-83DFE3793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53000"/>
            <a:ext cx="9715500" cy="72390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EAF8F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plan-next-text">
            <a:extLst xmlns:a="http://schemas.openxmlformats.org/drawingml/2006/main">
              <a:ext uri="{FF2B5EF4-FFF2-40B4-BE49-F238E27FC236}">
                <a16:creationId xmlns:a16="http://schemas.microsoft.com/office/drawing/2014/main" id="{C68A7650-6652-4720-8423-2E70A37D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181600"/>
            <a:ext cx="914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3D8DFF"/>
                </a:solidFill>
              </a:defRPr>
            </a:pPr>
            <a:r>
              <a:rPr sz="1575" b="1">
                <a:solidFill>
                  <a:srgbClr val="3D8DFF"/>
                </a:solidFill>
              </a:rPr>
              <a:t>Next action: train the gate model in Google Colab and return skin_gate.tflite for local testing.</a:t>
            </a:r>
          </a:p>
        </p:txBody>
      </p:sp>
    </p:spTree>
    <p:extLst>
      <p:ext uri="{BB962C8B-B14F-4D97-AF65-F5344CB8AC3E}">
        <p14:creationId xmlns:p14="http://schemas.microsoft.com/office/powerpoint/2010/main" val="1059164382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kicker-15">
            <a:extLst xmlns:a="http://schemas.openxmlformats.org/drawingml/2006/main">
              <a:ext uri="{FF2B5EF4-FFF2-40B4-BE49-F238E27FC236}">
                <a16:creationId xmlns:a16="http://schemas.microsoft.com/office/drawing/2014/main" id="{EE1C18E2-8AB7-4E50-AF1E-3E0A97B1F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END-TO-END DEMONSTRATION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7A2A6FDB-064A-4E01-87AA-0C6776046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One complete run looks like this</a:t>
            </a:r>
          </a:p>
        </p:txBody>
      </p:sp>
      <p:sp>
        <p:nvSpPr>
          <p:cNvPr id="3" name="header-rule-15">
            <a:extLst xmlns:a="http://schemas.openxmlformats.org/drawingml/2006/main">
              <a:ext uri="{FF2B5EF4-FFF2-40B4-BE49-F238E27FC236}">
                <a16:creationId xmlns:a16="http://schemas.microsoft.com/office/drawing/2014/main" id="{2D8FD44D-3B29-4BF0-91F6-6084E182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5">
            <a:extLst xmlns:a="http://schemas.openxmlformats.org/drawingml/2006/main">
              <a:ext uri="{FF2B5EF4-FFF2-40B4-BE49-F238E27FC236}">
                <a16:creationId xmlns:a16="http://schemas.microsoft.com/office/drawing/2014/main" id="{53C0D746-D30A-4B44-8C78-98B9F363D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15</a:t>
            </a:r>
          </a:p>
        </p:txBody>
      </p:sp>
      <p:sp>
        <p:nvSpPr>
          <p:cNvPr id="5" name="demo-num-0">
            <a:extLst xmlns:a="http://schemas.openxmlformats.org/drawingml/2006/main">
              <a:ext uri="{FF2B5EF4-FFF2-40B4-BE49-F238E27FC236}">
                <a16:creationId xmlns:a16="http://schemas.microsoft.com/office/drawing/2014/main" id="{2C01CF42-C335-4B4F-B4C1-5FA959338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76400"/>
            <a:ext cx="7239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8B8D7"/>
          </a:solidFill>
          <a:ln xmlns:a="http://schemas.openxmlformats.org/drawingml/2006/main" w="9525">
            <a:solidFill>
              <a:srgbClr val="28B8D7"/>
            </a:solidFill>
            <a:prstDash val="solid"/>
          </a:ln>
        </p:spPr>
      </p:sp>
      <p:sp>
        <p:nvSpPr>
          <p:cNvPr id="6" name="demo-num-text-0">
            <a:extLst xmlns:a="http://schemas.openxmlformats.org/drawingml/2006/main">
              <a:ext uri="{FF2B5EF4-FFF2-40B4-BE49-F238E27FC236}">
                <a16:creationId xmlns:a16="http://schemas.microsoft.com/office/drawing/2014/main" id="{C81CCEDF-A7CB-400B-8821-35D7DED58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7811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demo-title-0">
            <a:extLst xmlns:a="http://schemas.openxmlformats.org/drawingml/2006/main">
              <a:ext uri="{FF2B5EF4-FFF2-40B4-BE49-F238E27FC236}">
                <a16:creationId xmlns:a16="http://schemas.microsoft.com/office/drawing/2014/main" id="{85725434-165F-4353-8C0C-3683BA966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17049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Power on</a:t>
            </a:r>
          </a:p>
        </p:txBody>
      </p:sp>
      <p:sp>
        <p:nvSpPr>
          <p:cNvPr id="8" name="demo-body-0">
            <a:extLst xmlns:a="http://schemas.openxmlformats.org/drawingml/2006/main">
              <a:ext uri="{FF2B5EF4-FFF2-40B4-BE49-F238E27FC236}">
                <a16:creationId xmlns:a16="http://schemas.microsoft.com/office/drawing/2014/main" id="{01E8953A-5356-4158-8828-8E07172D0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7049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Pi boots and camera is ready</a:t>
            </a:r>
          </a:p>
        </p:txBody>
      </p:sp>
      <p:sp>
        <p:nvSpPr>
          <p:cNvPr id="9" name="demo-line-0">
            <a:extLst xmlns:a="http://schemas.openxmlformats.org/drawingml/2006/main">
              <a:ext uri="{FF2B5EF4-FFF2-40B4-BE49-F238E27FC236}">
                <a16:creationId xmlns:a16="http://schemas.microsoft.com/office/drawing/2014/main" id="{552A2087-2BD9-4988-98B3-8CAB17B4D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1336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0" name="demo-num-1">
            <a:extLst xmlns:a="http://schemas.openxmlformats.org/drawingml/2006/main">
              <a:ext uri="{FF2B5EF4-FFF2-40B4-BE49-F238E27FC236}">
                <a16:creationId xmlns:a16="http://schemas.microsoft.com/office/drawing/2014/main" id="{51901F15-262F-4012-ACBA-398227BE9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00300"/>
            <a:ext cx="7239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11" name="demo-num-text-1">
            <a:extLst xmlns:a="http://schemas.openxmlformats.org/drawingml/2006/main">
              <a:ext uri="{FF2B5EF4-FFF2-40B4-BE49-F238E27FC236}">
                <a16:creationId xmlns:a16="http://schemas.microsoft.com/office/drawing/2014/main" id="{B37E05F0-08F4-4B3B-ABE0-36633C146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5050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2" name="demo-title-1">
            <a:extLst xmlns:a="http://schemas.openxmlformats.org/drawingml/2006/main">
              <a:ext uri="{FF2B5EF4-FFF2-40B4-BE49-F238E27FC236}">
                <a16:creationId xmlns:a16="http://schemas.microsoft.com/office/drawing/2014/main" id="{A6440F9F-D626-4EC2-9240-90DD4E902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4288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Capture</a:t>
            </a:r>
          </a:p>
        </p:txBody>
      </p:sp>
      <p:sp>
        <p:nvSpPr>
          <p:cNvPr id="13" name="demo-body-1">
            <a:extLst xmlns:a="http://schemas.openxmlformats.org/drawingml/2006/main">
              <a:ext uri="{FF2B5EF4-FFF2-40B4-BE49-F238E27FC236}">
                <a16:creationId xmlns:a16="http://schemas.microsoft.com/office/drawing/2014/main" id="{9DCA8157-9E7E-4C39-8734-5E7F8BF5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4288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Camera saves a JPEG</a:t>
            </a:r>
          </a:p>
        </p:txBody>
      </p:sp>
      <p:sp>
        <p:nvSpPr>
          <p:cNvPr id="14" name="demo-line-1">
            <a:extLst xmlns:a="http://schemas.openxmlformats.org/drawingml/2006/main">
              <a:ext uri="{FF2B5EF4-FFF2-40B4-BE49-F238E27FC236}">
                <a16:creationId xmlns:a16="http://schemas.microsoft.com/office/drawing/2014/main" id="{7F6BBC37-F367-416D-B62B-564262E96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28575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15" name="demo-num-2">
            <a:extLst xmlns:a="http://schemas.openxmlformats.org/drawingml/2006/main">
              <a:ext uri="{FF2B5EF4-FFF2-40B4-BE49-F238E27FC236}">
                <a16:creationId xmlns:a16="http://schemas.microsoft.com/office/drawing/2014/main" id="{01477550-BDE5-42D2-ADF6-057A1931B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124200"/>
            <a:ext cx="7239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B883"/>
          </a:solidFill>
          <a:ln xmlns:a="http://schemas.openxmlformats.org/drawingml/2006/main" w="9525">
            <a:solidFill>
              <a:srgbClr val="42B883"/>
            </a:solidFill>
            <a:prstDash val="solid"/>
          </a:ln>
        </p:spPr>
      </p:sp>
      <p:sp>
        <p:nvSpPr>
          <p:cNvPr id="16" name="demo-num-text-2">
            <a:extLst xmlns:a="http://schemas.openxmlformats.org/drawingml/2006/main">
              <a:ext uri="{FF2B5EF4-FFF2-40B4-BE49-F238E27FC236}">
                <a16:creationId xmlns:a16="http://schemas.microsoft.com/office/drawing/2014/main" id="{F7A65D8D-EAA3-495D-8C6A-B8520947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289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7" name="demo-title-2">
            <a:extLst xmlns:a="http://schemas.openxmlformats.org/drawingml/2006/main">
              <a:ext uri="{FF2B5EF4-FFF2-40B4-BE49-F238E27FC236}">
                <a16:creationId xmlns:a16="http://schemas.microsoft.com/office/drawing/2014/main" id="{0842BACD-CDA9-4A73-8D6D-5D235691B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1527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Upload</a:t>
            </a:r>
          </a:p>
        </p:txBody>
      </p:sp>
      <p:sp>
        <p:nvSpPr>
          <p:cNvPr id="18" name="demo-body-2">
            <a:extLst xmlns:a="http://schemas.openxmlformats.org/drawingml/2006/main">
              <a:ext uri="{FF2B5EF4-FFF2-40B4-BE49-F238E27FC236}">
                <a16:creationId xmlns:a16="http://schemas.microsoft.com/office/drawing/2014/main" id="{6766E5B5-397E-4404-82DE-084364F68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527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POST /api/predict receives image</a:t>
            </a:r>
          </a:p>
        </p:txBody>
      </p:sp>
      <p:sp>
        <p:nvSpPr>
          <p:cNvPr id="19" name="demo-line-2">
            <a:extLst xmlns:a="http://schemas.openxmlformats.org/drawingml/2006/main">
              <a:ext uri="{FF2B5EF4-FFF2-40B4-BE49-F238E27FC236}">
                <a16:creationId xmlns:a16="http://schemas.microsoft.com/office/drawing/2014/main" id="{5244CB38-168F-4FB3-A10C-9A45686AB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0" name="demo-num-3">
            <a:extLst xmlns:a="http://schemas.openxmlformats.org/drawingml/2006/main">
              <a:ext uri="{FF2B5EF4-FFF2-40B4-BE49-F238E27FC236}">
                <a16:creationId xmlns:a16="http://schemas.microsoft.com/office/drawing/2014/main" id="{9EE445C9-2DF3-4815-B63F-0B31A249E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848100"/>
            <a:ext cx="7239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28C5B"/>
          </a:solidFill>
          <a:ln xmlns:a="http://schemas.openxmlformats.org/drawingml/2006/main" w="9525">
            <a:solidFill>
              <a:srgbClr val="F28C5B"/>
            </a:solidFill>
            <a:prstDash val="solid"/>
          </a:ln>
        </p:spPr>
      </p:sp>
      <p:sp>
        <p:nvSpPr>
          <p:cNvPr id="21" name="demo-num-text-3">
            <a:extLst xmlns:a="http://schemas.openxmlformats.org/drawingml/2006/main">
              <a:ext uri="{FF2B5EF4-FFF2-40B4-BE49-F238E27FC236}">
                <a16:creationId xmlns:a16="http://schemas.microsoft.com/office/drawing/2014/main" id="{0862098C-6C55-4D82-B83E-04A1653BB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9528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22" name="demo-title-3">
            <a:extLst xmlns:a="http://schemas.openxmlformats.org/drawingml/2006/main">
              <a:ext uri="{FF2B5EF4-FFF2-40B4-BE49-F238E27FC236}">
                <a16:creationId xmlns:a16="http://schemas.microsoft.com/office/drawing/2014/main" id="{D9C3F8B1-FF1C-4FA0-9E02-E34BECFE2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8766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Decide</a:t>
            </a:r>
          </a:p>
        </p:txBody>
      </p:sp>
      <p:sp>
        <p:nvSpPr>
          <p:cNvPr id="23" name="demo-body-3">
            <a:extLst xmlns:a="http://schemas.openxmlformats.org/drawingml/2006/main">
              <a:ext uri="{FF2B5EF4-FFF2-40B4-BE49-F238E27FC236}">
                <a16:creationId xmlns:a16="http://schemas.microsoft.com/office/drawing/2014/main" id="{CD8C10B7-C791-48B1-98C0-0B60218CC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8766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Quality + skin gate + classifier</a:t>
            </a:r>
          </a:p>
        </p:txBody>
      </p:sp>
      <p:sp>
        <p:nvSpPr>
          <p:cNvPr id="24" name="demo-line-3">
            <a:extLst xmlns:a="http://schemas.openxmlformats.org/drawingml/2006/main">
              <a:ext uri="{FF2B5EF4-FFF2-40B4-BE49-F238E27FC236}">
                <a16:creationId xmlns:a16="http://schemas.microsoft.com/office/drawing/2014/main" id="{81D2FB4D-9C43-43FF-ACA6-BD314065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305300"/>
            <a:ext cx="0" cy="2667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D9E1EA"/>
            </a:solidFill>
            <a:prstDash val="solid"/>
          </a:ln>
        </p:spPr>
      </p:sp>
      <p:sp>
        <p:nvSpPr>
          <p:cNvPr id="25" name="demo-num-4">
            <a:extLst xmlns:a="http://schemas.openxmlformats.org/drawingml/2006/main">
              <a:ext uri="{FF2B5EF4-FFF2-40B4-BE49-F238E27FC236}">
                <a16:creationId xmlns:a16="http://schemas.microsoft.com/office/drawing/2014/main" id="{246E45D7-B0B6-4CBA-82A3-F7B50C15E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72000"/>
            <a:ext cx="723900" cy="457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9525">
            <a:solidFill>
              <a:srgbClr val="0D1B2A"/>
            </a:solidFill>
            <a:prstDash val="solid"/>
          </a:ln>
        </p:spPr>
      </p:sp>
      <p:sp>
        <p:nvSpPr>
          <p:cNvPr id="26" name="demo-num-text-4">
            <a:extLst xmlns:a="http://schemas.openxmlformats.org/drawingml/2006/main">
              <a:ext uri="{FF2B5EF4-FFF2-40B4-BE49-F238E27FC236}">
                <a16:creationId xmlns:a16="http://schemas.microsoft.com/office/drawing/2014/main" id="{4DD39BDF-9274-4D69-8A4D-8AB24FF9C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76775"/>
            <a:ext cx="723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</a:defRPr>
            </a:pPr>
            <a:r>
              <a:rPr sz="1275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27" name="demo-title-4">
            <a:extLst xmlns:a="http://schemas.openxmlformats.org/drawingml/2006/main">
              <a:ext uri="{FF2B5EF4-FFF2-40B4-BE49-F238E27FC236}">
                <a16:creationId xmlns:a16="http://schemas.microsoft.com/office/drawing/2014/main" id="{C8D33072-E071-4319-B8FD-512A745CF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600575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10233D"/>
                </a:solidFill>
              </a:defRPr>
            </a:pPr>
            <a:r>
              <a:rPr sz="1575" b="1">
                <a:solidFill>
                  <a:srgbClr val="10233D"/>
                </a:solidFill>
              </a:rPr>
              <a:t>Deliver</a:t>
            </a:r>
          </a:p>
        </p:txBody>
      </p:sp>
      <p:sp>
        <p:nvSpPr>
          <p:cNvPr id="28" name="demo-body-4">
            <a:extLst xmlns:a="http://schemas.openxmlformats.org/drawingml/2006/main">
              <a:ext uri="{FF2B5EF4-FFF2-40B4-BE49-F238E27FC236}">
                <a16:creationId xmlns:a16="http://schemas.microsoft.com/office/drawing/2014/main" id="{345B7F4D-7016-4EAD-AB43-8EF460AD5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600575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57D"/>
                </a:solidFill>
              </a:defRPr>
            </a:pPr>
            <a:r>
              <a:rPr sz="1425">
                <a:solidFill>
                  <a:srgbClr val="52657D"/>
                </a:solidFill>
              </a:rPr>
              <a:t>Browser result + PDF report</a:t>
            </a:r>
          </a:p>
        </p:txBody>
      </p:sp>
      <p:sp>
        <p:nvSpPr>
          <p:cNvPr id="29" name="demo-api">
            <a:extLst xmlns:a="http://schemas.openxmlformats.org/drawingml/2006/main">
              <a:ext uri="{FF2B5EF4-FFF2-40B4-BE49-F238E27FC236}">
                <a16:creationId xmlns:a16="http://schemas.microsoft.com/office/drawing/2014/main" id="{F40EAE81-46DE-4BD6-9503-D7942AEC8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219700"/>
            <a:ext cx="2667000" cy="590550"/>
          </a:xfrm>
          <a:prstGeom xmlns:a="http://schemas.openxmlformats.org/drawingml/2006/main" prst="roundRect">
            <a:avLst>
              <a:gd name="adj" fmla="val 19355"/>
            </a:avLst>
          </a:prstGeom>
          <a:solidFill xmlns:a="http://schemas.openxmlformats.org/drawingml/2006/main">
            <a:srgbClr val="0D1B2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demo-api-text">
            <a:extLst xmlns:a="http://schemas.openxmlformats.org/drawingml/2006/main">
              <a:ext uri="{FF2B5EF4-FFF2-40B4-BE49-F238E27FC236}">
                <a16:creationId xmlns:a16="http://schemas.microsoft.com/office/drawing/2014/main" id="{44E63496-DB79-4166-BA40-0DBE21D8E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39115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POST /api/predict</a:t>
            </a:r>
          </a:p>
        </p:txBody>
      </p:sp>
    </p:spTree>
    <p:extLst>
      <p:ext uri="{BB962C8B-B14F-4D97-AF65-F5344CB8AC3E}">
        <p14:creationId xmlns:p14="http://schemas.microsoft.com/office/powerpoint/2010/main" val="208496648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kicker-16">
            <a:extLst xmlns:a="http://schemas.openxmlformats.org/drawingml/2006/main">
              <a:ext uri="{FF2B5EF4-FFF2-40B4-BE49-F238E27FC236}">
                <a16:creationId xmlns:a16="http://schemas.microsoft.com/office/drawing/2014/main" id="{38E30E6B-AB64-46FA-A538-A69376459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3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3D8DFF"/>
                </a:solidFill>
              </a:defRPr>
            </a:pPr>
            <a:r>
              <a:rPr sz="975" b="1">
                <a:solidFill>
                  <a:srgbClr val="3D8DFF"/>
                </a:solidFill>
              </a:rPr>
              <a:t>FINAL STATUS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7E8F6406-ED6D-4AF6-88A9-83494A9E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09600"/>
            <a:ext cx="10001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625" b="1">
                <a:solidFill>
                  <a:srgbClr val="10233D"/>
                </a:solidFill>
              </a:defRPr>
            </a:pPr>
            <a:r>
              <a:rPr sz="2625" b="1">
                <a:solidFill>
                  <a:srgbClr val="10233D"/>
                </a:solidFill>
              </a:rPr>
              <a:t>Current status: the prototype is working and ready for the gate-model step</a:t>
            </a:r>
          </a:p>
        </p:txBody>
      </p:sp>
      <p:sp>
        <p:nvSpPr>
          <p:cNvPr id="3" name="header-rule-16">
            <a:extLst xmlns:a="http://schemas.openxmlformats.org/drawingml/2006/main">
              <a:ext uri="{FF2B5EF4-FFF2-40B4-BE49-F238E27FC236}">
                <a16:creationId xmlns:a16="http://schemas.microsoft.com/office/drawing/2014/main" id="{DC39D29D-0B8D-49F7-A445-B57670A3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573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4" name="page-16">
            <a:extLst xmlns:a="http://schemas.openxmlformats.org/drawingml/2006/main">
              <a:ext uri="{FF2B5EF4-FFF2-40B4-BE49-F238E27FC236}">
                <a16:creationId xmlns:a16="http://schemas.microsoft.com/office/drawing/2014/main" id="{6C583CD4-BF23-4881-B3DB-6A5F2537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953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E8CA1"/>
                </a:solidFill>
              </a:defRPr>
            </a:pPr>
            <a:r>
              <a:rPr sz="1050" b="1">
                <a:solidFill>
                  <a:srgbClr val="7E8CA1"/>
                </a:solidFill>
              </a:rPr>
              <a:t>16</a:t>
            </a:r>
          </a:p>
        </p:txBody>
      </p:sp>
      <p:sp>
        <p:nvSpPr>
          <p:cNvPr id="5" name="status-done">
            <a:extLst xmlns:a="http://schemas.openxmlformats.org/drawingml/2006/main">
              <a:ext uri="{FF2B5EF4-FFF2-40B4-BE49-F238E27FC236}">
                <a16:creationId xmlns:a16="http://schemas.microsoft.com/office/drawing/2014/main" id="{3AE82DEA-F963-45B8-9304-0ACE249C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6" name="status-done-accent">
            <a:extLst xmlns:a="http://schemas.openxmlformats.org/drawingml/2006/main">
              <a:ext uri="{FF2B5EF4-FFF2-40B4-BE49-F238E27FC236}">
                <a16:creationId xmlns:a16="http://schemas.microsoft.com/office/drawing/2014/main" id="{EB26AE98-9836-46EA-B8AD-31C804B69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B88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status-done-title">
            <a:extLst xmlns:a="http://schemas.openxmlformats.org/drawingml/2006/main">
              <a:ext uri="{FF2B5EF4-FFF2-40B4-BE49-F238E27FC236}">
                <a16:creationId xmlns:a16="http://schemas.microsoft.com/office/drawing/2014/main" id="{35DD3D65-41AF-48D0-A302-79EC9C5D2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000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Completed</a:t>
            </a:r>
          </a:p>
        </p:txBody>
      </p:sp>
      <p:sp>
        <p:nvSpPr>
          <p:cNvPr id="8" name="status-done-body">
            <a:extLst xmlns:a="http://schemas.openxmlformats.org/drawingml/2006/main">
              <a:ext uri="{FF2B5EF4-FFF2-40B4-BE49-F238E27FC236}">
                <a16:creationId xmlns:a16="http://schemas.microsoft.com/office/drawing/2014/main" id="{DACE65A9-7547-4D66-A0CF-8A3273946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62200"/>
            <a:ext cx="2724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Web app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TFLite model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PDF reports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Render deployment</a:t>
            </a:r>
          </a:p>
        </p:txBody>
      </p:sp>
      <p:sp>
        <p:nvSpPr>
          <p:cNvPr id="9" name="status-prepared">
            <a:extLst xmlns:a="http://schemas.openxmlformats.org/drawingml/2006/main">
              <a:ext uri="{FF2B5EF4-FFF2-40B4-BE49-F238E27FC236}">
                <a16:creationId xmlns:a16="http://schemas.microsoft.com/office/drawing/2014/main" id="{F878239E-7F96-489F-AB05-E4CA0E5F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0" name="status-prepared-accent">
            <a:extLst xmlns:a="http://schemas.openxmlformats.org/drawingml/2006/main">
              <a:ext uri="{FF2B5EF4-FFF2-40B4-BE49-F238E27FC236}">
                <a16:creationId xmlns:a16="http://schemas.microsoft.com/office/drawing/2014/main" id="{2C361A6F-951C-4619-8E2B-44BCD0A2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B8D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tatus-prepared-title">
            <a:extLst xmlns:a="http://schemas.openxmlformats.org/drawingml/2006/main">
              <a:ext uri="{FF2B5EF4-FFF2-40B4-BE49-F238E27FC236}">
                <a16:creationId xmlns:a16="http://schemas.microsoft.com/office/drawing/2014/main" id="{43F46510-490B-497B-ACC6-513490CC3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000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Prepared</a:t>
            </a:r>
          </a:p>
        </p:txBody>
      </p:sp>
      <p:sp>
        <p:nvSpPr>
          <p:cNvPr id="12" name="status-prepared-body">
            <a:extLst xmlns:a="http://schemas.openxmlformats.org/drawingml/2006/main">
              <a:ext uri="{FF2B5EF4-FFF2-40B4-BE49-F238E27FC236}">
                <a16:creationId xmlns:a16="http://schemas.microsoft.com/office/drawing/2014/main" id="{B131A442-A66C-45A1-8980-46E8BA39B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52975" y="2362200"/>
            <a:ext cx="2724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Skin dataset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COCO non-skin dataset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Raspberry Pi capture flow</a:t>
            </a:r>
          </a:p>
        </p:txBody>
      </p:sp>
      <p:sp>
        <p:nvSpPr>
          <p:cNvPr id="13" name="status-next">
            <a:extLst xmlns:a="http://schemas.openxmlformats.org/drawingml/2006/main">
              <a:ext uri="{FF2B5EF4-FFF2-40B4-BE49-F238E27FC236}">
                <a16:creationId xmlns:a16="http://schemas.microsoft.com/office/drawing/2014/main" id="{96571E92-301A-48A4-A2A0-1728AAA31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3143250" cy="17145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E1EA"/>
            </a:solidFill>
            <a:prstDash val="solid"/>
          </a:ln>
        </p:spPr>
      </p:sp>
      <p:sp>
        <p:nvSpPr>
          <p:cNvPr id="14" name="status-next-accent">
            <a:extLst xmlns:a="http://schemas.openxmlformats.org/drawingml/2006/main">
              <a:ext uri="{FF2B5EF4-FFF2-40B4-BE49-F238E27FC236}">
                <a16:creationId xmlns:a16="http://schemas.microsoft.com/office/drawing/2014/main" id="{FE22F1DC-B3B5-446E-AC5F-EC7346AB2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1809750"/>
            <a:ext cx="66675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8C5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status-next-title">
            <a:extLst xmlns:a="http://schemas.openxmlformats.org/drawingml/2006/main">
              <a:ext uri="{FF2B5EF4-FFF2-40B4-BE49-F238E27FC236}">
                <a16:creationId xmlns:a16="http://schemas.microsoft.com/office/drawing/2014/main" id="{0148E9FF-CB9E-42C8-A983-CB4B7F595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000250"/>
            <a:ext cx="2724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0233D"/>
                </a:solidFill>
              </a:defRPr>
            </a:pPr>
            <a:r>
              <a:rPr sz="1650" b="1">
                <a:solidFill>
                  <a:srgbClr val="10233D"/>
                </a:solidFill>
              </a:rPr>
              <a:t>Next</a:t>
            </a:r>
          </a:p>
        </p:txBody>
      </p:sp>
      <p:sp>
        <p:nvSpPr>
          <p:cNvPr id="16" name="status-next-body">
            <a:extLst xmlns:a="http://schemas.openxmlformats.org/drawingml/2006/main">
              <a:ext uri="{FF2B5EF4-FFF2-40B4-BE49-F238E27FC236}">
                <a16:creationId xmlns:a16="http://schemas.microsoft.com/office/drawing/2014/main" id="{65B9EED9-2750-4EB5-A59B-E3AA0D2B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62200"/>
            <a:ext cx="27241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Train gate model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Integrate locally</a:t>
            </a:r>
          </a:p>
          <a:p xmlns:a="http://schemas.openxmlformats.org/drawingml/2006/main">
            <a:pPr>
              <a:lnSpc>
                <a:spcPct val="120000"/>
              </a:lnSpc>
              <a:buNone/>
              <a:defRPr sz="1275">
                <a:solidFill>
                  <a:srgbClr val="52657D"/>
                </a:solidFill>
              </a:defRPr>
            </a:pPr>
            <a:r>
              <a:rPr sz="1275">
                <a:solidFill>
                  <a:srgbClr val="52657D"/>
                </a:solidFill>
              </a:rPr>
              <a:t>Validate, then release</a:t>
            </a:r>
          </a:p>
        </p:txBody>
      </p:sp>
      <p:sp>
        <p:nvSpPr>
          <p:cNvPr id="17" name="status-thanks">
            <a:extLst xmlns:a="http://schemas.openxmlformats.org/drawingml/2006/main">
              <a:ext uri="{FF2B5EF4-FFF2-40B4-BE49-F238E27FC236}">
                <a16:creationId xmlns:a16="http://schemas.microsoft.com/office/drawing/2014/main" id="{79AB8422-4A11-438E-8F8C-6659DA825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476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233D"/>
                </a:solidFill>
              </a:defRPr>
            </a:pPr>
            <a:r>
              <a:rPr sz="3150" b="1">
                <a:solidFill>
                  <a:srgbClr val="10233D"/>
                </a:solidFill>
              </a:rPr>
              <a:t>Thank you</a:t>
            </a:r>
          </a:p>
        </p:txBody>
      </p:sp>
      <p:sp>
        <p:nvSpPr>
          <p:cNvPr id="18" name="status-questions">
            <a:extLst xmlns:a="http://schemas.openxmlformats.org/drawingml/2006/main">
              <a:ext uri="{FF2B5EF4-FFF2-40B4-BE49-F238E27FC236}">
                <a16:creationId xmlns:a16="http://schemas.microsoft.com/office/drawing/2014/main" id="{7614EE50-6914-45D0-BD60-A45734E07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91150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52657D"/>
                </a:solidFill>
              </a:defRPr>
            </a:pPr>
            <a:r>
              <a:rPr sz="1650">
                <a:solidFill>
                  <a:srgbClr val="52657D"/>
                </a:solidFill>
              </a:rPr>
              <a:t>Questions and demonstration</a:t>
            </a:r>
          </a:p>
        </p:txBody>
      </p:sp>
      <p:sp>
        <p:nvSpPr>
          <p:cNvPr id="19" name="status-link">
            <a:extLst xmlns:a="http://schemas.openxmlformats.org/drawingml/2006/main">
              <a:ext uri="{FF2B5EF4-FFF2-40B4-BE49-F238E27FC236}">
                <a16:creationId xmlns:a16="http://schemas.microsoft.com/office/drawing/2014/main" id="{74250C6C-73AC-4301-AF3E-D4044A4F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6048375"/>
            <a:ext cx="8763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3D8DFF"/>
                </a:solidFill>
              </a:defRPr>
            </a:pPr>
            <a:r>
              <a:rPr sz="1125">
                <a:solidFill>
                  <a:srgbClr val="3D8DFF"/>
                </a:solidFill>
              </a:rPr>
              <a:t>GitHub: github.com/Vishal123-tech/AI-Skin-Disease-Detection-System</a:t>
            </a:r>
          </a:p>
        </p:txBody>
      </p:sp>
    </p:spTree>
    <p:extLst>
      <p:ext uri="{BB962C8B-B14F-4D97-AF65-F5344CB8AC3E}">
        <p14:creationId xmlns:p14="http://schemas.microsoft.com/office/powerpoint/2010/main" val="4164054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2026-08-24T16:26:17.6350000Z</dcterms:created>
  <dcterms:modified xsi:type="dcterms:W3CDTF">2026-08-24T16:26:17.6360000Z</dcterms:modified>
</coreProperties>
</file>